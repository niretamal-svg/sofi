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jPNd86VLk3HB123sGeLxyVf7Q8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ED8CF9B-86C4-4559-9D83-2D41FA864E9C}">
  <a:tblStyle styleId="{5ED8CF9B-86C4-4559-9D83-2D41FA864E9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" name="Google Shape;66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" name="Google Shape;119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2" name="Google Shape;182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9" name="Google Shape;209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3" name="Google Shape;243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4" name="Google Shape;284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8" name="Google Shape;318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1" name="Google Shape;351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3" name="Google Shape;373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f33294325c_0_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9" name="Google Shape;409;g3f33294325c_0_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g3f33294325c_0_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8" name="Google Shape;418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0" name="Google Shape;440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f1ca3f80da_0_14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g3f1ca3f80da_0_14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g3f1ca3f80da_0_1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f1ca3f80da_0_14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g3f1ca3f80da_0_1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f1ca3f80da_0_1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g3f1ca3f80da_0_1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g3f1ca3f80da_0_1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f1ca3f80da_0_1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g3f1ca3f80da_0_15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g3f1ca3f80da_0_15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g3f1ca3f80da_0_1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f1ca3f80da_0_1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g3f1ca3f80da_0_1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1ca3f80da_0_16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g3f1ca3f80da_0_16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g3f1ca3f80da_0_1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f1ca3f80da_0_16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g3f1ca3f80da_0_1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f1ca3f80da_0_16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g3f1ca3f80da_0_16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g3f1ca3f80da_0_16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g3f1ca3f80da_0_16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g3f1ca3f80da_0_1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f1ca3f80da_0_17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g3f1ca3f80da_0_1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f1ca3f80da_0_17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g3f1ca3f80da_0_17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g3f1ca3f80da_0_17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f1ca3f80da_0_18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f1ca3f80da_0_1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g3f1ca3f80da_0_1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g3f1ca3f80da_0_1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060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/>
          <p:nvPr/>
        </p:nvSpPr>
        <p:spPr>
          <a:xfrm>
            <a:off x="-1851655" y="734205"/>
            <a:ext cx="4572000" cy="4572000"/>
          </a:xfrm>
          <a:prstGeom prst="ellipse">
            <a:avLst/>
          </a:prstGeom>
          <a:solidFill>
            <a:srgbClr val="5B35D5">
              <a:alpha val="27843"/>
            </a:srgbClr>
          </a:solidFill>
          <a:ln cap="flat" cmpd="sng" w="12700">
            <a:solidFill>
              <a:srgbClr val="5B35D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"/>
          <p:cNvSpPr/>
          <p:nvPr/>
        </p:nvSpPr>
        <p:spPr>
          <a:xfrm>
            <a:off x="734800" y="3229355"/>
            <a:ext cx="3657600" cy="3657600"/>
          </a:xfrm>
          <a:prstGeom prst="ellipse">
            <a:avLst/>
          </a:prstGeom>
          <a:solidFill>
            <a:srgbClr val="1D4ED8">
              <a:alpha val="21960"/>
            </a:srgbClr>
          </a:solidFill>
          <a:ln cap="flat" cmpd="sng" w="12700">
            <a:solidFill>
              <a:srgbClr val="1D4ED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"/>
          <p:cNvSpPr/>
          <p:nvPr/>
        </p:nvSpPr>
        <p:spPr>
          <a:xfrm>
            <a:off x="914400" y="23311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700"/>
              <a:buFont typeface="Arial"/>
              <a:buNone/>
            </a:pPr>
            <a:r>
              <a:rPr b="0" i="0" lang="en-US" sz="1900" u="none" cap="none" strike="noStrike">
                <a:solidFill>
                  <a:srgbClr val="A78BFA"/>
                </a:solidFill>
                <a:latin typeface="Arial"/>
                <a:ea typeface="Arial"/>
                <a:cs typeface="Arial"/>
                <a:sym typeface="Arial"/>
              </a:rPr>
              <a:t>Sistema Optimizado de Flujo de Ingresos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"/>
          <p:cNvSpPr/>
          <p:nvPr/>
        </p:nvSpPr>
        <p:spPr>
          <a:xfrm>
            <a:off x="3291840" y="3001893"/>
            <a:ext cx="2560200" cy="36600"/>
          </a:xfrm>
          <a:prstGeom prst="rect">
            <a:avLst/>
          </a:prstGeom>
          <a:solidFill>
            <a:srgbClr val="5B35D5"/>
          </a:solidFill>
          <a:ln cap="flat" cmpd="sng" w="12700">
            <a:solidFill>
              <a:srgbClr val="5B35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60" name="Google Shape;60;p1"/>
          <p:cNvSpPr/>
          <p:nvPr/>
        </p:nvSpPr>
        <p:spPr>
          <a:xfrm>
            <a:off x="914400" y="3252053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1300"/>
              <a:buFont typeface="Arial"/>
              <a:buNone/>
            </a:pPr>
            <a:r>
              <a:rPr b="0" i="0" lang="en-US" sz="1500" u="none" cap="none" strike="noStrike">
                <a:solidFill>
                  <a:srgbClr val="818CF8"/>
                </a:solidFill>
                <a:latin typeface="Arial"/>
                <a:ea typeface="Arial"/>
                <a:cs typeface="Arial"/>
                <a:sym typeface="Arial"/>
              </a:rPr>
              <a:t>Capstone_007  ·  </a:t>
            </a:r>
            <a:r>
              <a:rPr b="0" i="0" lang="en-US" sz="1500" u="none" cap="none" strike="noStrike">
                <a:solidFill>
                  <a:srgbClr val="818CF8"/>
                </a:solidFill>
                <a:latin typeface="Arial"/>
                <a:ea typeface="Arial"/>
                <a:cs typeface="Arial"/>
                <a:sym typeface="Arial"/>
              </a:rPr>
              <a:t>Alloxentric </a:t>
            </a:r>
            <a:r>
              <a:rPr b="0" i="0" lang="en-US" sz="1500" u="none" cap="none" strike="noStrike">
                <a:solidFill>
                  <a:srgbClr val="818CF8"/>
                </a:solidFill>
                <a:latin typeface="Arial"/>
                <a:ea typeface="Arial"/>
                <a:cs typeface="Arial"/>
                <a:sym typeface="Arial"/>
              </a:rPr>
              <a:t> ·  DuocUC 2026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"/>
          <p:cNvSpPr/>
          <p:nvPr/>
        </p:nvSpPr>
        <p:spPr>
          <a:xfrm>
            <a:off x="914350" y="3943105"/>
            <a:ext cx="7315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150"/>
              <a:buFont typeface="Arial"/>
              <a:buNone/>
            </a:pPr>
            <a:r>
              <a:rPr b="0" i="0" lang="en-US" sz="135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F. Bustos  ·  N. Retamal  ·  F. Vaccaro  ·  P. Vera</a:t>
            </a:r>
            <a:endParaRPr sz="1350">
              <a:solidFill>
                <a:srgbClr val="6366F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150"/>
              <a:buFont typeface="Arial"/>
              <a:buNone/>
            </a:pPr>
            <a:r>
              <a:rPr b="0" i="0" lang="en-US" sz="135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 Prof: Carlos González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" name="Google Shape;62;p1"/>
          <p:cNvPicPr preferRelativeResize="0"/>
          <p:nvPr/>
        </p:nvPicPr>
        <p:blipFill rotWithShape="1">
          <a:blip r:embed="rId3">
            <a:alphaModFix/>
          </a:blip>
          <a:srcRect b="27824" l="0" r="0" t="27551"/>
          <a:stretch/>
        </p:blipFill>
        <p:spPr>
          <a:xfrm>
            <a:off x="7481522" y="210901"/>
            <a:ext cx="1341274" cy="59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17350" y="385624"/>
            <a:ext cx="3909298" cy="159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B35D5">
            <a:alpha val="27840"/>
          </a:srgbClr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/>
          <p:cNvSpPr/>
          <p:nvPr/>
        </p:nvSpPr>
        <p:spPr>
          <a:xfrm>
            <a:off x="527175" y="442632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A2E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F0A2E"/>
                </a:solidFill>
                <a:latin typeface="Arial"/>
                <a:ea typeface="Arial"/>
                <a:cs typeface="Arial"/>
                <a:sym typeface="Arial"/>
              </a:rPr>
              <a:t>Contenido de </a:t>
            </a:r>
            <a:r>
              <a:rPr b="1" lang="en-US" sz="2800">
                <a:solidFill>
                  <a:srgbClr val="0F0A2E"/>
                </a:solidFill>
              </a:rPr>
              <a:t>nuestra p</a:t>
            </a:r>
            <a:r>
              <a:rPr b="1" lang="en-US" sz="2800">
                <a:solidFill>
                  <a:srgbClr val="0F0A2E"/>
                </a:solidFill>
                <a:latin typeface="Arial"/>
                <a:ea typeface="Arial"/>
                <a:cs typeface="Arial"/>
                <a:sym typeface="Arial"/>
              </a:rPr>
              <a:t>resentación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3445773" y="2243450"/>
            <a:ext cx="111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3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658250" y="2095250"/>
            <a:ext cx="1353000" cy="559800"/>
          </a:xfrm>
          <a:prstGeom prst="homePlate">
            <a:avLst>
              <a:gd fmla="val 50000" name="adj"/>
            </a:avLst>
          </a:prstGeom>
          <a:solidFill>
            <a:srgbClr val="A78BFA"/>
          </a:solidFill>
          <a:ln cap="flat" cmpd="sng" w="9525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ÍNDICE</a:t>
            </a:r>
            <a:endParaRPr b="1" sz="1500">
              <a:solidFill>
                <a:schemeClr val="lt1"/>
              </a:solidFill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3104925" y="2095250"/>
            <a:ext cx="1587900" cy="559800"/>
          </a:xfrm>
          <a:prstGeom prst="chevron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Problema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4472075" y="2095250"/>
            <a:ext cx="1492800" cy="559800"/>
          </a:xfrm>
          <a:prstGeom prst="chevron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Solución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5732525" y="2095250"/>
            <a:ext cx="1492800" cy="559800"/>
          </a:xfrm>
          <a:prstGeom prst="chevron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Objetivo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6992950" y="2095250"/>
            <a:ext cx="1492800" cy="559800"/>
          </a:xfrm>
          <a:prstGeom prst="chevron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Hito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841563" y="3548700"/>
            <a:ext cx="1898100" cy="559800"/>
          </a:xfrm>
          <a:prstGeom prst="chevron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Stack </a:t>
            </a:r>
            <a:r>
              <a:rPr lang="en-US" sz="1100">
                <a:solidFill>
                  <a:schemeClr val="dk1"/>
                </a:solidFill>
              </a:rPr>
              <a:t>tecnoló</a:t>
            </a:r>
            <a:r>
              <a:rPr lang="en-US" sz="1100">
                <a:solidFill>
                  <a:schemeClr val="dk1"/>
                </a:solidFill>
              </a:rPr>
              <a:t>gico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1753675" y="2095250"/>
            <a:ext cx="1587900" cy="559800"/>
          </a:xfrm>
          <a:prstGeom prst="chevron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Contexto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5295525" y="3548700"/>
            <a:ext cx="1492800" cy="559800"/>
          </a:xfrm>
          <a:prstGeom prst="chevron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Demo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2512125" y="3548700"/>
            <a:ext cx="1587900" cy="559800"/>
          </a:xfrm>
          <a:prstGeom prst="chevron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Seguridad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6535725" y="3548700"/>
            <a:ext cx="1766700" cy="559800"/>
          </a:xfrm>
          <a:prstGeom prst="chevron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Conclusión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3900525" y="3548700"/>
            <a:ext cx="1614300" cy="559800"/>
          </a:xfrm>
          <a:prstGeom prst="chevron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Impacto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2346487" y="1576410"/>
            <a:ext cx="402300" cy="402300"/>
          </a:xfrm>
          <a:prstGeom prst="roundRect">
            <a:avLst>
              <a:gd fmla="val 13636" name="adj"/>
            </a:avLst>
          </a:prstGeom>
          <a:solidFill>
            <a:srgbClr val="5B35D5"/>
          </a:solidFill>
          <a:ln cap="flat" cmpd="sng" w="12700">
            <a:solidFill>
              <a:srgbClr val="5B35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</a:rPr>
              <a:t>0</a:t>
            </a:r>
            <a:r>
              <a:rPr lang="en-US" sz="1300">
                <a:solidFill>
                  <a:schemeClr val="lt1"/>
                </a:solidFill>
              </a:rPr>
              <a:t>1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1133600" y="1576400"/>
            <a:ext cx="402300" cy="402300"/>
          </a:xfrm>
          <a:prstGeom prst="roundRect">
            <a:avLst>
              <a:gd fmla="val 13636" name="adj"/>
            </a:avLst>
          </a:prstGeom>
          <a:solidFill>
            <a:srgbClr val="5B35D5"/>
          </a:solidFill>
          <a:ln cap="flat" cmpd="sng" w="12700">
            <a:solidFill>
              <a:srgbClr val="5B35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</a:rPr>
              <a:t>00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3697737" y="1576410"/>
            <a:ext cx="402300" cy="402300"/>
          </a:xfrm>
          <a:prstGeom prst="roundRect">
            <a:avLst>
              <a:gd fmla="val 13636" name="adj"/>
            </a:avLst>
          </a:prstGeom>
          <a:solidFill>
            <a:srgbClr val="5B35D5"/>
          </a:solidFill>
          <a:ln cap="flat" cmpd="sng" w="12700">
            <a:solidFill>
              <a:srgbClr val="5B35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</a:rPr>
              <a:t>02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5017337" y="1576410"/>
            <a:ext cx="402300" cy="402300"/>
          </a:xfrm>
          <a:prstGeom prst="roundRect">
            <a:avLst>
              <a:gd fmla="val 13636" name="adj"/>
            </a:avLst>
          </a:prstGeom>
          <a:solidFill>
            <a:srgbClr val="5B35D5"/>
          </a:solidFill>
          <a:ln cap="flat" cmpd="sng" w="12700">
            <a:solidFill>
              <a:srgbClr val="5B35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</a:rPr>
              <a:t>03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6261862" y="1576410"/>
            <a:ext cx="402300" cy="402300"/>
          </a:xfrm>
          <a:prstGeom prst="roundRect">
            <a:avLst>
              <a:gd fmla="val 13636" name="adj"/>
            </a:avLst>
          </a:prstGeom>
          <a:solidFill>
            <a:srgbClr val="5B35D5"/>
          </a:solidFill>
          <a:ln cap="flat" cmpd="sng" w="12700">
            <a:solidFill>
              <a:srgbClr val="5B35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</a:rPr>
              <a:t>04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7538212" y="1576410"/>
            <a:ext cx="402300" cy="402300"/>
          </a:xfrm>
          <a:prstGeom prst="roundRect">
            <a:avLst>
              <a:gd fmla="val 13636" name="adj"/>
            </a:avLst>
          </a:prstGeom>
          <a:solidFill>
            <a:srgbClr val="5B35D5"/>
          </a:solidFill>
          <a:ln cap="flat" cmpd="sng" w="12700">
            <a:solidFill>
              <a:srgbClr val="5B35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</a:rPr>
              <a:t>05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88" name="Google Shape;88;p2"/>
          <p:cNvSpPr/>
          <p:nvPr/>
        </p:nvSpPr>
        <p:spPr>
          <a:xfrm>
            <a:off x="1589475" y="3064010"/>
            <a:ext cx="402300" cy="402300"/>
          </a:xfrm>
          <a:prstGeom prst="roundRect">
            <a:avLst>
              <a:gd fmla="val 13636" name="adj"/>
            </a:avLst>
          </a:prstGeom>
          <a:solidFill>
            <a:srgbClr val="5B35D5"/>
          </a:solidFill>
          <a:ln cap="flat" cmpd="sng" w="12700">
            <a:solidFill>
              <a:srgbClr val="5B35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</a:rPr>
              <a:t>06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89" name="Google Shape;89;p2"/>
          <p:cNvSpPr/>
          <p:nvPr/>
        </p:nvSpPr>
        <p:spPr>
          <a:xfrm>
            <a:off x="3046412" y="3064010"/>
            <a:ext cx="402300" cy="402300"/>
          </a:xfrm>
          <a:prstGeom prst="roundRect">
            <a:avLst>
              <a:gd fmla="val 13636" name="adj"/>
            </a:avLst>
          </a:prstGeom>
          <a:solidFill>
            <a:srgbClr val="5B35D5"/>
          </a:solidFill>
          <a:ln cap="flat" cmpd="sng" w="12700">
            <a:solidFill>
              <a:srgbClr val="5B35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</a:rPr>
              <a:t>07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90" name="Google Shape;90;p2"/>
          <p:cNvSpPr/>
          <p:nvPr/>
        </p:nvSpPr>
        <p:spPr>
          <a:xfrm>
            <a:off x="7217937" y="3064010"/>
            <a:ext cx="402300" cy="402300"/>
          </a:xfrm>
          <a:prstGeom prst="roundRect">
            <a:avLst>
              <a:gd fmla="val 13636" name="adj"/>
            </a:avLst>
          </a:prstGeom>
          <a:solidFill>
            <a:srgbClr val="5B35D5"/>
          </a:solidFill>
          <a:ln cap="flat" cmpd="sng" w="12700">
            <a:solidFill>
              <a:srgbClr val="5B35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</a:rPr>
              <a:t>10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5657112" y="3064010"/>
            <a:ext cx="402300" cy="402300"/>
          </a:xfrm>
          <a:prstGeom prst="roundRect">
            <a:avLst>
              <a:gd fmla="val 13636" name="adj"/>
            </a:avLst>
          </a:prstGeom>
          <a:solidFill>
            <a:srgbClr val="5B35D5"/>
          </a:solidFill>
          <a:ln cap="flat" cmpd="sng" w="12700">
            <a:solidFill>
              <a:srgbClr val="5B35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</a:rPr>
              <a:t>09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92" name="Google Shape;92;p2"/>
          <p:cNvSpPr/>
          <p:nvPr/>
        </p:nvSpPr>
        <p:spPr>
          <a:xfrm>
            <a:off x="4351762" y="3064010"/>
            <a:ext cx="402300" cy="402300"/>
          </a:xfrm>
          <a:prstGeom prst="roundRect">
            <a:avLst>
              <a:gd fmla="val 13636" name="adj"/>
            </a:avLst>
          </a:prstGeom>
          <a:solidFill>
            <a:srgbClr val="5B35D5"/>
          </a:solidFill>
          <a:ln cap="flat" cmpd="sng" w="12700">
            <a:solidFill>
              <a:srgbClr val="5B35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</a:rPr>
              <a:t>08</a:t>
            </a:r>
            <a:endParaRPr sz="1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060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5B35D5">
              <a:alpha val="21960"/>
            </a:srgbClr>
          </a:solidFill>
          <a:ln cap="flat" cmpd="sng" w="12700">
            <a:solidFill>
              <a:srgbClr val="5B35D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4366190" y="1529293"/>
            <a:ext cx="6400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Arial"/>
              <a:buNone/>
            </a:pPr>
            <a:r>
              <a:t/>
            </a:r>
            <a:endParaRPr sz="4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839673" y="1447575"/>
            <a:ext cx="4671900" cy="1432200"/>
          </a:xfrm>
          <a:prstGeom prst="roundRect">
            <a:avLst>
              <a:gd fmla="val 6000" name="adj"/>
            </a:avLst>
          </a:prstGeom>
          <a:solidFill>
            <a:srgbClr val="FFFFFF">
              <a:alpha val="92156"/>
            </a:srgbClr>
          </a:solidFill>
          <a:ln cap="flat" cmpd="sng" w="12700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7C5CFC"/>
                </a:solidFill>
              </a:rPr>
              <a:t>Alloxentric </a:t>
            </a:r>
            <a:endParaRPr b="1" sz="1700">
              <a:solidFill>
                <a:srgbClr val="7C5CFC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</a:rPr>
              <a:t>Es una empresa especializada en transformación digital, colaboración e inteligencia artificial. Desarrolla soluciones tecnológicas que ayudan a las organizaciones a optimizar procesos, automatizar tareas y mejorar su productividad mediante el uso de inteligencia artificial.</a:t>
            </a:r>
            <a:endParaRPr sz="1550"/>
          </a:p>
        </p:txBody>
      </p:sp>
      <p:sp>
        <p:nvSpPr>
          <p:cNvPr id="101" name="Google Shape;101;p3"/>
          <p:cNvSpPr/>
          <p:nvPr/>
        </p:nvSpPr>
        <p:spPr>
          <a:xfrm>
            <a:off x="1964523" y="202350"/>
            <a:ext cx="111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3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1623675" y="54150"/>
            <a:ext cx="1587900" cy="559800"/>
          </a:xfrm>
          <a:prstGeom prst="chevron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PROBLEMA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2990825" y="54150"/>
            <a:ext cx="1492800" cy="559800"/>
          </a:xfrm>
          <a:prstGeom prst="chevron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SOLUCIÓN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4251275" y="54150"/>
            <a:ext cx="1492800" cy="559800"/>
          </a:xfrm>
          <a:prstGeom prst="chevron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OBJETIVO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5511700" y="54150"/>
            <a:ext cx="1492800" cy="559800"/>
          </a:xfrm>
          <a:prstGeom prst="chevron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HITO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72300" y="54150"/>
            <a:ext cx="1788000" cy="559800"/>
          </a:xfrm>
          <a:prstGeom prst="chevron">
            <a:avLst>
              <a:gd fmla="val 50000" name="adj"/>
            </a:avLst>
          </a:prstGeom>
          <a:solidFill>
            <a:srgbClr val="7C5CFC"/>
          </a:solidFill>
          <a:ln cap="flat" cmpd="sng" w="9525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CONTEXTO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6783763" y="54150"/>
            <a:ext cx="1898100" cy="559800"/>
          </a:xfrm>
          <a:prstGeom prst="chevron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STACK TECNOLOGICO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5878263" y="1444350"/>
            <a:ext cx="1920300" cy="22548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9525">
            <a:solidFill>
              <a:srgbClr val="C7C4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412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6381193" y="1608942"/>
            <a:ext cx="914400" cy="914400"/>
          </a:xfrm>
          <a:prstGeom prst="ellipse">
            <a:avLst/>
          </a:prstGeom>
          <a:solidFill>
            <a:srgbClr val="5B35D5">
              <a:alpha val="87840"/>
            </a:srgbClr>
          </a:solidFill>
          <a:ln cap="flat" cmpd="sng" w="25400">
            <a:solidFill>
              <a:srgbClr val="5B35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6381193" y="1608942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3400">
                <a:solidFill>
                  <a:schemeClr val="dk1"/>
                </a:solidFill>
                <a:highlight>
                  <a:srgbClr val="FFFFFF"/>
                </a:highlight>
              </a:rPr>
              <a:t>👨‍💼</a:t>
            </a:r>
            <a:r>
              <a:rPr lang="en-US" sz="3000">
                <a:solidFill>
                  <a:schemeClr val="dk1"/>
                </a:solidFill>
              </a:rPr>
              <a:t> 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5878273" y="2585983"/>
            <a:ext cx="1920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A2E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F0A2E"/>
                </a:solidFill>
              </a:rPr>
              <a:t>Max </a:t>
            </a:r>
            <a:r>
              <a:rPr b="1" lang="en-US" sz="1200">
                <a:solidFill>
                  <a:schemeClr val="dk1"/>
                </a:solidFill>
              </a:rPr>
              <a:t>Kreimerman </a:t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6079438" y="2969974"/>
            <a:ext cx="1508700" cy="611700"/>
          </a:xfrm>
          <a:prstGeom prst="roundRect">
            <a:avLst>
              <a:gd fmla="val 33333" name="adj"/>
            </a:avLst>
          </a:prstGeom>
          <a:solidFill>
            <a:srgbClr val="5B35D5">
              <a:alpha val="87840"/>
            </a:srgbClr>
          </a:solidFill>
          <a:ln cap="flat" cmpd="sng" w="10150">
            <a:solidFill>
              <a:srgbClr val="5B35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6079438" y="3032603"/>
            <a:ext cx="1508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chemeClr val="lt1"/>
                </a:solidFill>
              </a:rPr>
              <a:t>Fundador y CEO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chemeClr val="lt1"/>
                </a:solidFill>
              </a:rPr>
              <a:t>de </a:t>
            </a:r>
            <a:r>
              <a:rPr b="1"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Alloxentric</a:t>
            </a:r>
            <a:endParaRPr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5112" y="3114475"/>
            <a:ext cx="827775" cy="82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02263" y="3114484"/>
            <a:ext cx="827775" cy="82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3" title="Alloxentric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15825" y="2968563"/>
            <a:ext cx="1119600" cy="11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2FA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"/>
          <p:cNvSpPr/>
          <p:nvPr/>
        </p:nvSpPr>
        <p:spPr>
          <a:xfrm>
            <a:off x="457200" y="35690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A2E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0F0A2E"/>
                </a:solidFill>
                <a:latin typeface="Arial"/>
                <a:ea typeface="Arial"/>
                <a:cs typeface="Arial"/>
                <a:sym typeface="Arial"/>
              </a:rPr>
              <a:t>Nuestro Equipo</a:t>
            </a:r>
            <a:r>
              <a:rPr b="1" lang="en-US" sz="3000">
                <a:solidFill>
                  <a:srgbClr val="0F0A2E"/>
                </a:solidFill>
              </a:rPr>
              <a:t> </a:t>
            </a:r>
            <a:r>
              <a:rPr b="1" lang="en-US" sz="3000">
                <a:solidFill>
                  <a:srgbClr val="0F0A2E"/>
                </a:solidFill>
              </a:rPr>
              <a:t>Informático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2"/>
          <p:cNvSpPr/>
          <p:nvPr/>
        </p:nvSpPr>
        <p:spPr>
          <a:xfrm>
            <a:off x="320010" y="1136000"/>
            <a:ext cx="1920300" cy="32004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9525">
            <a:solidFill>
              <a:srgbClr val="C7C4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4" name="Google Shape;124;p12"/>
          <p:cNvSpPr/>
          <p:nvPr/>
        </p:nvSpPr>
        <p:spPr>
          <a:xfrm>
            <a:off x="822930" y="1300592"/>
            <a:ext cx="914400" cy="914400"/>
          </a:xfrm>
          <a:prstGeom prst="ellipse">
            <a:avLst/>
          </a:prstGeom>
          <a:solidFill>
            <a:srgbClr val="5B35D5">
              <a:alpha val="87843"/>
            </a:srgbClr>
          </a:solidFill>
          <a:ln cap="flat" cmpd="sng" w="25400">
            <a:solidFill>
              <a:srgbClr val="5B35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2"/>
          <p:cNvSpPr/>
          <p:nvPr/>
        </p:nvSpPr>
        <p:spPr>
          <a:xfrm>
            <a:off x="822930" y="1300592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👩‍💼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2"/>
          <p:cNvSpPr/>
          <p:nvPr/>
        </p:nvSpPr>
        <p:spPr>
          <a:xfrm>
            <a:off x="320010" y="2343008"/>
            <a:ext cx="1920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A2E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F0A2E"/>
                </a:solidFill>
                <a:latin typeface="Arial"/>
                <a:ea typeface="Arial"/>
                <a:cs typeface="Arial"/>
                <a:sym typeface="Arial"/>
              </a:rPr>
              <a:t>Fernanda Bustos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2"/>
          <p:cNvSpPr/>
          <p:nvPr/>
        </p:nvSpPr>
        <p:spPr>
          <a:xfrm>
            <a:off x="521178" y="2818496"/>
            <a:ext cx="1508700" cy="274200"/>
          </a:xfrm>
          <a:prstGeom prst="roundRect">
            <a:avLst>
              <a:gd fmla="val 33333" name="adj"/>
            </a:avLst>
          </a:prstGeom>
          <a:solidFill>
            <a:srgbClr val="5B35D5">
              <a:alpha val="87843"/>
            </a:srgbClr>
          </a:solidFill>
          <a:ln cap="flat" cmpd="sng" w="10150">
            <a:solidFill>
              <a:srgbClr val="5B35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8" name="Google Shape;128;p12"/>
          <p:cNvSpPr/>
          <p:nvPr/>
        </p:nvSpPr>
        <p:spPr>
          <a:xfrm>
            <a:off x="521178" y="2818496"/>
            <a:ext cx="150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35D5"/>
              </a:buClr>
              <a:buSzPts val="900"/>
              <a:buFont typeface="Arial"/>
              <a:buNone/>
            </a:pPr>
            <a:r>
              <a:rPr b="1" lang="en-US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Product Owner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2"/>
          <p:cNvSpPr/>
          <p:nvPr/>
        </p:nvSpPr>
        <p:spPr>
          <a:xfrm>
            <a:off x="411450" y="3184256"/>
            <a:ext cx="1737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Gestión de </a:t>
            </a:r>
            <a:r>
              <a:rPr lang="en-US" sz="1000">
                <a:solidFill>
                  <a:srgbClr val="374151"/>
                </a:solidFill>
              </a:rPr>
              <a:t>requerimiento</a:t>
            </a:r>
            <a:r>
              <a:rPr lang="en-US" sz="10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 y coordinación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2"/>
          <p:cNvSpPr/>
          <p:nvPr/>
        </p:nvSpPr>
        <p:spPr>
          <a:xfrm>
            <a:off x="2514570" y="1136000"/>
            <a:ext cx="1920300" cy="32004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9525">
            <a:solidFill>
              <a:srgbClr val="C7C4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1" name="Google Shape;131;p12"/>
          <p:cNvSpPr/>
          <p:nvPr/>
        </p:nvSpPr>
        <p:spPr>
          <a:xfrm>
            <a:off x="3017490" y="1300592"/>
            <a:ext cx="914400" cy="914400"/>
          </a:xfrm>
          <a:prstGeom prst="ellipse">
            <a:avLst/>
          </a:prstGeom>
          <a:solidFill>
            <a:srgbClr val="1D4ED8">
              <a:alpha val="87843"/>
            </a:srgbClr>
          </a:solidFill>
          <a:ln cap="flat" cmpd="sng" w="254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2"/>
          <p:cNvSpPr/>
          <p:nvPr/>
        </p:nvSpPr>
        <p:spPr>
          <a:xfrm>
            <a:off x="3017490" y="1300592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👨‍💻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2"/>
          <p:cNvSpPr/>
          <p:nvPr/>
        </p:nvSpPr>
        <p:spPr>
          <a:xfrm>
            <a:off x="2514570" y="2343008"/>
            <a:ext cx="1920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A2E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F0A2E"/>
                </a:solidFill>
                <a:latin typeface="Arial"/>
                <a:ea typeface="Arial"/>
                <a:cs typeface="Arial"/>
                <a:sym typeface="Arial"/>
              </a:rPr>
              <a:t>Nicolás Retamal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2"/>
          <p:cNvSpPr/>
          <p:nvPr/>
        </p:nvSpPr>
        <p:spPr>
          <a:xfrm>
            <a:off x="2715738" y="2818496"/>
            <a:ext cx="1508700" cy="274200"/>
          </a:xfrm>
          <a:prstGeom prst="roundRect">
            <a:avLst>
              <a:gd fmla="val 33333" name="adj"/>
            </a:avLst>
          </a:prstGeom>
          <a:solidFill>
            <a:srgbClr val="1D4ED8">
              <a:alpha val="87843"/>
            </a:srgbClr>
          </a:solidFill>
          <a:ln cap="flat" cmpd="sng" w="1015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5" name="Google Shape;135;p12"/>
          <p:cNvSpPr/>
          <p:nvPr/>
        </p:nvSpPr>
        <p:spPr>
          <a:xfrm>
            <a:off x="2715738" y="2818496"/>
            <a:ext cx="150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Arial"/>
              <a:buNone/>
            </a:pPr>
            <a:r>
              <a:rPr b="1" lang="en-US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Dev Backend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2"/>
          <p:cNvSpPr/>
          <p:nvPr/>
        </p:nvSpPr>
        <p:spPr>
          <a:xfrm>
            <a:off x="2606010" y="3184256"/>
            <a:ext cx="1737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API FastAPI y Base de datos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2"/>
          <p:cNvSpPr/>
          <p:nvPr/>
        </p:nvSpPr>
        <p:spPr>
          <a:xfrm>
            <a:off x="4709130" y="1136000"/>
            <a:ext cx="1920300" cy="32004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9525">
            <a:solidFill>
              <a:srgbClr val="C7C4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8" name="Google Shape;138;p12"/>
          <p:cNvSpPr/>
          <p:nvPr/>
        </p:nvSpPr>
        <p:spPr>
          <a:xfrm>
            <a:off x="5212050" y="1300592"/>
            <a:ext cx="914400" cy="914400"/>
          </a:xfrm>
          <a:prstGeom prst="ellipse">
            <a:avLst/>
          </a:prstGeom>
          <a:solidFill>
            <a:srgbClr val="0891B2">
              <a:alpha val="87843"/>
            </a:srgbClr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2"/>
          <p:cNvSpPr/>
          <p:nvPr/>
        </p:nvSpPr>
        <p:spPr>
          <a:xfrm>
            <a:off x="5212050" y="1300592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🎨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2"/>
          <p:cNvSpPr/>
          <p:nvPr/>
        </p:nvSpPr>
        <p:spPr>
          <a:xfrm>
            <a:off x="4709130" y="2343008"/>
            <a:ext cx="1920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A2E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F0A2E"/>
                </a:solidFill>
                <a:latin typeface="Arial"/>
                <a:ea typeface="Arial"/>
                <a:cs typeface="Arial"/>
                <a:sym typeface="Arial"/>
              </a:rPr>
              <a:t>Felipe Vaccaro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2"/>
          <p:cNvSpPr/>
          <p:nvPr/>
        </p:nvSpPr>
        <p:spPr>
          <a:xfrm>
            <a:off x="4910298" y="2818496"/>
            <a:ext cx="1508700" cy="274200"/>
          </a:xfrm>
          <a:prstGeom prst="roundRect">
            <a:avLst>
              <a:gd fmla="val 33333" name="adj"/>
            </a:avLst>
          </a:prstGeom>
          <a:solidFill>
            <a:srgbClr val="0891B2">
              <a:alpha val="87843"/>
            </a:srgbClr>
          </a:solidFill>
          <a:ln cap="flat" cmpd="sng" w="1015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2" name="Google Shape;142;p12"/>
          <p:cNvSpPr/>
          <p:nvPr/>
        </p:nvSpPr>
        <p:spPr>
          <a:xfrm>
            <a:off x="4910298" y="2818496"/>
            <a:ext cx="150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900"/>
              <a:buFont typeface="Arial"/>
              <a:buNone/>
            </a:pPr>
            <a:r>
              <a:rPr b="1" lang="en-US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Dev Frontend &amp; Datos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2"/>
          <p:cNvSpPr/>
          <p:nvPr/>
        </p:nvSpPr>
        <p:spPr>
          <a:xfrm>
            <a:off x="4800570" y="3184256"/>
            <a:ext cx="1737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Interfaz React y visualización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2"/>
          <p:cNvSpPr/>
          <p:nvPr/>
        </p:nvSpPr>
        <p:spPr>
          <a:xfrm>
            <a:off x="6903690" y="1136000"/>
            <a:ext cx="1920300" cy="32004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9525">
            <a:solidFill>
              <a:srgbClr val="C7C4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5" name="Google Shape;145;p12"/>
          <p:cNvSpPr/>
          <p:nvPr/>
        </p:nvSpPr>
        <p:spPr>
          <a:xfrm>
            <a:off x="7406610" y="1300592"/>
            <a:ext cx="914400" cy="914400"/>
          </a:xfrm>
          <a:prstGeom prst="ellipse">
            <a:avLst/>
          </a:prstGeom>
          <a:solidFill>
            <a:srgbClr val="7C3AED">
              <a:alpha val="87843"/>
            </a:srgbClr>
          </a:solidFill>
          <a:ln cap="flat" cmpd="sng" w="254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2"/>
          <p:cNvSpPr/>
          <p:nvPr/>
        </p:nvSpPr>
        <p:spPr>
          <a:xfrm>
            <a:off x="7406610" y="1300592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⚙️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2"/>
          <p:cNvSpPr/>
          <p:nvPr/>
        </p:nvSpPr>
        <p:spPr>
          <a:xfrm>
            <a:off x="6903690" y="2343008"/>
            <a:ext cx="1920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A2E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F0A2E"/>
                </a:solidFill>
                <a:latin typeface="Arial"/>
                <a:ea typeface="Arial"/>
                <a:cs typeface="Arial"/>
                <a:sym typeface="Arial"/>
              </a:rPr>
              <a:t>Paskal Vera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2"/>
          <p:cNvSpPr/>
          <p:nvPr/>
        </p:nvSpPr>
        <p:spPr>
          <a:xfrm>
            <a:off x="7104858" y="2818496"/>
            <a:ext cx="1508700" cy="274200"/>
          </a:xfrm>
          <a:prstGeom prst="roundRect">
            <a:avLst>
              <a:gd fmla="val 33333" name="adj"/>
            </a:avLst>
          </a:prstGeom>
          <a:solidFill>
            <a:srgbClr val="7C3AED">
              <a:alpha val="87843"/>
            </a:srgbClr>
          </a:solidFill>
          <a:ln cap="flat" cmpd="sng" w="101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9" name="Google Shape;149;p12"/>
          <p:cNvSpPr/>
          <p:nvPr/>
        </p:nvSpPr>
        <p:spPr>
          <a:xfrm>
            <a:off x="7104858" y="2818496"/>
            <a:ext cx="150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00"/>
              <a:buFont typeface="Arial"/>
              <a:buNone/>
            </a:pPr>
            <a:r>
              <a:rPr b="1" lang="en-US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Dev Full Stack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2"/>
          <p:cNvSpPr/>
          <p:nvPr/>
        </p:nvSpPr>
        <p:spPr>
          <a:xfrm>
            <a:off x="6995130" y="3184256"/>
            <a:ext cx="1737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Frontend, backend e integración IA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2"/>
          <p:cNvSpPr/>
          <p:nvPr/>
        </p:nvSpPr>
        <p:spPr>
          <a:xfrm>
            <a:off x="411450" y="46564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Docente: Carlos González  ·  DuocUC — Escuela de Informática y Telecomunicaciones  ·  2026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2FA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"/>
          <p:cNvSpPr/>
          <p:nvPr/>
        </p:nvSpPr>
        <p:spPr>
          <a:xfrm>
            <a:off x="522435" y="1076695"/>
            <a:ext cx="3931800" cy="1600200"/>
          </a:xfrm>
          <a:prstGeom prst="roundRect">
            <a:avLst>
              <a:gd fmla="val 6857" name="adj"/>
            </a:avLst>
          </a:prstGeom>
          <a:solidFill>
            <a:srgbClr val="FFFFFF"/>
          </a:solidFill>
          <a:ln cap="flat" cmpd="sng" w="9525">
            <a:solidFill>
              <a:srgbClr val="C7C4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"/>
          <p:cNvSpPr/>
          <p:nvPr/>
        </p:nvSpPr>
        <p:spPr>
          <a:xfrm>
            <a:off x="659595" y="1145330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⏱️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1299675" y="1213855"/>
            <a:ext cx="301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A2E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F0A2E"/>
                </a:solidFill>
                <a:latin typeface="Arial"/>
                <a:ea typeface="Arial"/>
                <a:cs typeface="Arial"/>
                <a:sym typeface="Arial"/>
              </a:rPr>
              <a:t>Tiempo excesivo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659595" y="1671055"/>
            <a:ext cx="36120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Publicar una vacante en múltiples portales toma entre 30 y 60 minutos de trabajo manual repetitivo.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522435" y="3007315"/>
            <a:ext cx="3931800" cy="1600200"/>
          </a:xfrm>
          <a:prstGeom prst="roundRect">
            <a:avLst>
              <a:gd fmla="val 6857" name="adj"/>
            </a:avLst>
          </a:prstGeom>
          <a:solidFill>
            <a:srgbClr val="FFFFFF"/>
          </a:solidFill>
          <a:ln cap="flat" cmpd="sng" w="9525">
            <a:solidFill>
              <a:srgbClr val="C7C4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659595" y="3075950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📋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1299675" y="3144475"/>
            <a:ext cx="301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A2E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F0A2E"/>
                </a:solidFill>
                <a:latin typeface="Arial"/>
                <a:ea typeface="Arial"/>
                <a:cs typeface="Arial"/>
                <a:sym typeface="Arial"/>
              </a:rPr>
              <a:t>Inconsistencia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659595" y="3601675"/>
            <a:ext cx="36120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Sin estándares definidos, </a:t>
            </a:r>
            <a:r>
              <a:rPr lang="en-US" sz="1150">
                <a:solidFill>
                  <a:schemeClr val="dk1"/>
                </a:solidFill>
              </a:rPr>
              <a:t>cada reclutador redacta los avisos de manera diferente, afectando la marca empleadora.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4661240" y="1076695"/>
            <a:ext cx="3931800" cy="1600200"/>
          </a:xfrm>
          <a:prstGeom prst="roundRect">
            <a:avLst>
              <a:gd fmla="val 6857" name="adj"/>
            </a:avLst>
          </a:prstGeom>
          <a:solidFill>
            <a:srgbClr val="FFFFFF"/>
          </a:solidFill>
          <a:ln cap="flat" cmpd="sng" w="9525">
            <a:solidFill>
              <a:srgbClr val="C7C4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4854825" y="1145330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🌐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5438480" y="1213855"/>
            <a:ext cx="301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A2E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F0A2E"/>
                </a:solidFill>
                <a:latin typeface="Arial"/>
                <a:ea typeface="Arial"/>
                <a:cs typeface="Arial"/>
                <a:sym typeface="Arial"/>
              </a:rPr>
              <a:t>Cobertura limitada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4798400" y="1671055"/>
            <a:ext cx="36120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Los equipos de RRHH solo publican en 1-2 portales por falta de tiempo, perdiendo alcance.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4661240" y="3007315"/>
            <a:ext cx="3931800" cy="1600200"/>
          </a:xfrm>
          <a:prstGeom prst="roundRect">
            <a:avLst>
              <a:gd fmla="val 6857" name="adj"/>
            </a:avLst>
          </a:prstGeom>
          <a:solidFill>
            <a:srgbClr val="FFFFFF"/>
          </a:solidFill>
          <a:ln cap="flat" cmpd="sng" w="9525">
            <a:solidFill>
              <a:srgbClr val="C7C4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4798400" y="3144475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📊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5438480" y="3144475"/>
            <a:ext cx="301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A2E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F0A2E"/>
                </a:solidFill>
                <a:latin typeface="Arial"/>
                <a:ea typeface="Arial"/>
                <a:cs typeface="Arial"/>
                <a:sym typeface="Arial"/>
              </a:rPr>
              <a:t>Sin trazabilidad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4798400" y="3601675"/>
            <a:ext cx="36120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No existe un registro centralizado de publicaciones, costos ni rendimiento de cada portal.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400698" y="214025"/>
            <a:ext cx="111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3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59850" y="65825"/>
            <a:ext cx="1866900" cy="559800"/>
          </a:xfrm>
          <a:prstGeom prst="chevron">
            <a:avLst>
              <a:gd fmla="val 50000" name="adj"/>
            </a:avLst>
          </a:prstGeom>
          <a:solidFill>
            <a:srgbClr val="7C5CFC"/>
          </a:solidFill>
          <a:ln cap="flat" cmpd="sng" w="9525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PROBLEMA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1741925" y="65825"/>
            <a:ext cx="1492800" cy="559800"/>
          </a:xfrm>
          <a:prstGeom prst="chevron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SOLUCIÓN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3002375" y="49325"/>
            <a:ext cx="1492800" cy="559800"/>
          </a:xfrm>
          <a:prstGeom prst="chevron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OBJETIVO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4262800" y="65825"/>
            <a:ext cx="1492800" cy="559800"/>
          </a:xfrm>
          <a:prstGeom prst="chevron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HITO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5440663" y="65825"/>
            <a:ext cx="1898100" cy="559800"/>
          </a:xfrm>
          <a:prstGeom prst="chevron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STACK TECNOLÓGICO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7070175" y="65825"/>
            <a:ext cx="1492800" cy="559800"/>
          </a:xfrm>
          <a:prstGeom prst="chevron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DEMO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2FA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"/>
          <p:cNvSpPr/>
          <p:nvPr/>
        </p:nvSpPr>
        <p:spPr>
          <a:xfrm>
            <a:off x="433525" y="2430625"/>
            <a:ext cx="2651700" cy="2286000"/>
          </a:xfrm>
          <a:prstGeom prst="roundRect">
            <a:avLst>
              <a:gd fmla="val 5172" name="adj"/>
            </a:avLst>
          </a:prstGeom>
          <a:solidFill>
            <a:srgbClr val="FFFFFF"/>
          </a:solidFill>
          <a:ln cap="flat" cmpd="sng" w="9525">
            <a:solidFill>
              <a:srgbClr val="C7C4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4"/>
          <p:cNvSpPr/>
          <p:nvPr/>
        </p:nvSpPr>
        <p:spPr>
          <a:xfrm>
            <a:off x="1393655" y="2613505"/>
            <a:ext cx="749700" cy="749700"/>
          </a:xfrm>
          <a:prstGeom prst="roundRect">
            <a:avLst>
              <a:gd fmla="val 14634" name="adj"/>
            </a:avLst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7" name="Google Shape;18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1671" y="2732377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4"/>
          <p:cNvSpPr/>
          <p:nvPr/>
        </p:nvSpPr>
        <p:spPr>
          <a:xfrm>
            <a:off x="433535" y="3527905"/>
            <a:ext cx="2651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A2E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F0A2E"/>
                </a:solidFill>
              </a:rPr>
              <a:t>Publicación multicanal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4"/>
          <p:cNvSpPr/>
          <p:nvPr/>
        </p:nvSpPr>
        <p:spPr>
          <a:xfrm>
            <a:off x="570700" y="4003396"/>
            <a:ext cx="23775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Cobertura en 7 países de América Latina y Norteamérica con portales integrados.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3268175" y="2430625"/>
            <a:ext cx="2651700" cy="2286000"/>
          </a:xfrm>
          <a:prstGeom prst="roundRect">
            <a:avLst>
              <a:gd fmla="val 5172" name="adj"/>
            </a:avLst>
          </a:prstGeom>
          <a:solidFill>
            <a:srgbClr val="FFFFFF"/>
          </a:solidFill>
          <a:ln cap="flat" cmpd="sng" w="9525">
            <a:solidFill>
              <a:srgbClr val="C7C4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4"/>
          <p:cNvSpPr/>
          <p:nvPr/>
        </p:nvSpPr>
        <p:spPr>
          <a:xfrm>
            <a:off x="4228295" y="2613505"/>
            <a:ext cx="749700" cy="749700"/>
          </a:xfrm>
          <a:prstGeom prst="roundRect">
            <a:avLst>
              <a:gd fmla="val 14634" name="adj"/>
            </a:avLst>
          </a:prstGeom>
          <a:solidFill>
            <a:srgbClr val="5B35D5"/>
          </a:solidFill>
          <a:ln cap="flat" cmpd="sng" w="12700">
            <a:solidFill>
              <a:srgbClr val="5B35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2" name="Google Shape;19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56311" y="2732377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4"/>
          <p:cNvSpPr/>
          <p:nvPr/>
        </p:nvSpPr>
        <p:spPr>
          <a:xfrm>
            <a:off x="3268175" y="3527905"/>
            <a:ext cx="2651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A2E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F0A2E"/>
                </a:solidFill>
              </a:rPr>
              <a:t>Asistente Inteligente</a:t>
            </a:r>
            <a:endParaRPr b="1">
              <a:solidFill>
                <a:srgbClr val="0F0A2E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A2E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F0A2E"/>
                </a:solidFill>
              </a:rPr>
              <a:t>SOFI IA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4"/>
          <p:cNvSpPr/>
          <p:nvPr/>
        </p:nvSpPr>
        <p:spPr>
          <a:xfrm>
            <a:off x="3405275" y="4003398"/>
            <a:ext cx="2377500" cy="13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Asistente virtual Sofi IA 24/7 para sugerencias, redacción y recomendaciones.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4"/>
          <p:cNvSpPr/>
          <p:nvPr/>
        </p:nvSpPr>
        <p:spPr>
          <a:xfrm>
            <a:off x="6102825" y="2430625"/>
            <a:ext cx="2651700" cy="2286000"/>
          </a:xfrm>
          <a:prstGeom prst="roundRect">
            <a:avLst>
              <a:gd fmla="val 5172" name="adj"/>
            </a:avLst>
          </a:prstGeom>
          <a:solidFill>
            <a:srgbClr val="FFFFFF"/>
          </a:solidFill>
          <a:ln cap="flat" cmpd="sng" w="9525">
            <a:solidFill>
              <a:srgbClr val="C7C4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4"/>
          <p:cNvSpPr/>
          <p:nvPr/>
        </p:nvSpPr>
        <p:spPr>
          <a:xfrm>
            <a:off x="7062935" y="2613505"/>
            <a:ext cx="749700" cy="749700"/>
          </a:xfrm>
          <a:prstGeom prst="roundRect">
            <a:avLst>
              <a:gd fmla="val 14634" name="adj"/>
            </a:avLst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7" name="Google Shape;19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90951" y="2732377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4"/>
          <p:cNvSpPr/>
          <p:nvPr/>
        </p:nvSpPr>
        <p:spPr>
          <a:xfrm>
            <a:off x="6102815" y="3527905"/>
            <a:ext cx="2651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A2E"/>
              </a:buClr>
              <a:buSzPts val="1400"/>
              <a:buFont typeface="Arial"/>
              <a:buNone/>
            </a:pPr>
            <a:r>
              <a:rPr b="1" lang="en-US">
                <a:solidFill>
                  <a:srgbClr val="0F0A2E"/>
                </a:solidFill>
              </a:rPr>
              <a:t>Plataforma intuitiva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4"/>
          <p:cNvSpPr/>
          <p:nvPr/>
        </p:nvSpPr>
        <p:spPr>
          <a:xfrm>
            <a:off x="6239975" y="4003393"/>
            <a:ext cx="23775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Interfaz guiada en 4 pasos simples. Sin curva de aprendizaje para equipos de RRHH.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4"/>
          <p:cNvSpPr/>
          <p:nvPr/>
        </p:nvSpPr>
        <p:spPr>
          <a:xfrm>
            <a:off x="48975" y="54150"/>
            <a:ext cx="1832700" cy="559800"/>
          </a:xfrm>
          <a:prstGeom prst="chevron">
            <a:avLst>
              <a:gd fmla="val 50000" name="adj"/>
            </a:avLst>
          </a:prstGeom>
          <a:solidFill>
            <a:srgbClr val="7C5CFC"/>
          </a:solidFill>
          <a:ln cap="flat" cmpd="sng" w="9525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</a:rPr>
              <a:t>SOLUCIÓN</a:t>
            </a:r>
            <a:endParaRPr b="1" sz="1500">
              <a:solidFill>
                <a:schemeClr val="lt1"/>
              </a:solidFill>
            </a:endParaRPr>
          </a:p>
        </p:txBody>
      </p:sp>
      <p:sp>
        <p:nvSpPr>
          <p:cNvPr id="201" name="Google Shape;201;p4"/>
          <p:cNvSpPr/>
          <p:nvPr/>
        </p:nvSpPr>
        <p:spPr>
          <a:xfrm>
            <a:off x="1649425" y="54150"/>
            <a:ext cx="1492800" cy="559800"/>
          </a:xfrm>
          <a:prstGeom prst="chevron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OBJETIVO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2" name="Google Shape;202;p4"/>
          <p:cNvSpPr/>
          <p:nvPr/>
        </p:nvSpPr>
        <p:spPr>
          <a:xfrm>
            <a:off x="2909850" y="54150"/>
            <a:ext cx="1492800" cy="559800"/>
          </a:xfrm>
          <a:prstGeom prst="chevron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HITO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3" name="Google Shape;203;p4"/>
          <p:cNvSpPr/>
          <p:nvPr/>
        </p:nvSpPr>
        <p:spPr>
          <a:xfrm>
            <a:off x="4205425" y="54150"/>
            <a:ext cx="1898100" cy="559800"/>
          </a:xfrm>
          <a:prstGeom prst="chevron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STACK TECNOLÓGICO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4" name="Google Shape;204;p4"/>
          <p:cNvSpPr/>
          <p:nvPr/>
        </p:nvSpPr>
        <p:spPr>
          <a:xfrm>
            <a:off x="5910438" y="54150"/>
            <a:ext cx="1492800" cy="559800"/>
          </a:xfrm>
          <a:prstGeom prst="chevron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DEMO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5" name="Google Shape;205;p4"/>
          <p:cNvSpPr/>
          <p:nvPr/>
        </p:nvSpPr>
        <p:spPr>
          <a:xfrm>
            <a:off x="7166725" y="54150"/>
            <a:ext cx="1587900" cy="559800"/>
          </a:xfrm>
          <a:prstGeom prst="chevron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SEGURIDAD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6" name="Google Shape;206;p4"/>
          <p:cNvSpPr txBox="1"/>
          <p:nvPr/>
        </p:nvSpPr>
        <p:spPr>
          <a:xfrm>
            <a:off x="433525" y="1058100"/>
            <a:ext cx="8321100" cy="1126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42">
                <a:solidFill>
                  <a:srgbClr val="7C5CFC"/>
                </a:solidFill>
              </a:rPr>
              <a:t>SOFI </a:t>
            </a:r>
            <a:r>
              <a:rPr b="1" lang="en-US" sz="2042">
                <a:solidFill>
                  <a:schemeClr val="dk1"/>
                </a:solidFill>
              </a:rPr>
              <a:t>centraliza y automatiza la publicación de vacantes mediante inteligencia artificial, optimizando el proceso de reclutamiento y reduciendo el trabajo manual.</a:t>
            </a:r>
            <a:endParaRPr b="1" sz="2942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2FA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"/>
          <p:cNvSpPr/>
          <p:nvPr/>
        </p:nvSpPr>
        <p:spPr>
          <a:xfrm>
            <a:off x="365710" y="1019375"/>
            <a:ext cx="8412600" cy="1005900"/>
          </a:xfrm>
          <a:prstGeom prst="roundRect">
            <a:avLst>
              <a:gd fmla="val 10909" name="adj"/>
            </a:avLst>
          </a:prstGeom>
          <a:solidFill>
            <a:srgbClr val="5B35D5"/>
          </a:solidFill>
          <a:ln cap="flat" cmpd="sng" w="12700">
            <a:solidFill>
              <a:srgbClr val="3D1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13" name="Google Shape;213;p6"/>
          <p:cNvSpPr/>
          <p:nvPr/>
        </p:nvSpPr>
        <p:spPr>
          <a:xfrm>
            <a:off x="640030" y="1065095"/>
            <a:ext cx="7772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🎯  Objetivo General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640030" y="1385135"/>
            <a:ext cx="7772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9FE"/>
              </a:buClr>
              <a:buSzPts val="1150"/>
              <a:buFont typeface="Arial"/>
              <a:buNone/>
            </a:pPr>
            <a:r>
              <a:rPr lang="en-US" sz="1250">
                <a:solidFill>
                  <a:srgbClr val="EDE9FE"/>
                </a:solidFill>
              </a:rPr>
              <a:t>Nuestro objetivo fue </a:t>
            </a:r>
            <a:r>
              <a:rPr lang="en-US" sz="1250">
                <a:solidFill>
                  <a:srgbClr val="EDE9FE"/>
                </a:solidFill>
                <a:latin typeface="Arial"/>
                <a:ea typeface="Arial"/>
                <a:cs typeface="Arial"/>
                <a:sym typeface="Arial"/>
              </a:rPr>
              <a:t>una plataforma tecnológica que integre IA para automatizar procesos de reclutamiento, optimizando la gestión de vacantes y reduciendo la carga manual de los equipos de RRHH.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365710" y="2189807"/>
            <a:ext cx="3931800" cy="68580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9525">
            <a:solidFill>
              <a:srgbClr val="C7C4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16" name="Google Shape;216;p6"/>
          <p:cNvSpPr/>
          <p:nvPr/>
        </p:nvSpPr>
        <p:spPr>
          <a:xfrm>
            <a:off x="475438" y="2372687"/>
            <a:ext cx="320100" cy="320100"/>
          </a:xfrm>
          <a:prstGeom prst="ellipse">
            <a:avLst/>
          </a:prstGeom>
          <a:solidFill>
            <a:srgbClr val="5B35D5"/>
          </a:solidFill>
          <a:ln cap="flat" cmpd="sng" w="12700">
            <a:solidFill>
              <a:srgbClr val="5B35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6"/>
          <p:cNvSpPr/>
          <p:nvPr/>
        </p:nvSpPr>
        <p:spPr>
          <a:xfrm>
            <a:off x="475438" y="2372687"/>
            <a:ext cx="32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914350" y="2189807"/>
            <a:ext cx="324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Automatizar la creación y publicación de ofertas laborales en múltiples portales.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365710" y="3031055"/>
            <a:ext cx="3931800" cy="68580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9525">
            <a:solidFill>
              <a:srgbClr val="C7C4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20" name="Google Shape;220;p6"/>
          <p:cNvSpPr/>
          <p:nvPr/>
        </p:nvSpPr>
        <p:spPr>
          <a:xfrm>
            <a:off x="475438" y="3213935"/>
            <a:ext cx="320100" cy="320100"/>
          </a:xfrm>
          <a:prstGeom prst="ellipse">
            <a:avLst/>
          </a:prstGeom>
          <a:solidFill>
            <a:srgbClr val="5B35D5"/>
          </a:solidFill>
          <a:ln cap="flat" cmpd="sng" w="12700">
            <a:solidFill>
              <a:srgbClr val="5B35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6"/>
          <p:cNvSpPr/>
          <p:nvPr/>
        </p:nvSpPr>
        <p:spPr>
          <a:xfrm>
            <a:off x="475438" y="3213935"/>
            <a:ext cx="32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914350" y="3031055"/>
            <a:ext cx="324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Centralizar la gestión de vacantes en una plataforma única (Single Source of Truth).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365710" y="3872303"/>
            <a:ext cx="3931800" cy="68580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9525">
            <a:solidFill>
              <a:srgbClr val="C7C4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24" name="Google Shape;224;p6"/>
          <p:cNvSpPr/>
          <p:nvPr/>
        </p:nvSpPr>
        <p:spPr>
          <a:xfrm>
            <a:off x="475438" y="4055183"/>
            <a:ext cx="320100" cy="320100"/>
          </a:xfrm>
          <a:prstGeom prst="ellipse">
            <a:avLst/>
          </a:prstGeom>
          <a:solidFill>
            <a:srgbClr val="5B35D5"/>
          </a:solidFill>
          <a:ln cap="flat" cmpd="sng" w="12700">
            <a:solidFill>
              <a:srgbClr val="5B35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6"/>
          <p:cNvSpPr/>
          <p:nvPr/>
        </p:nvSpPr>
        <p:spPr>
          <a:xfrm>
            <a:off x="475438" y="4055183"/>
            <a:ext cx="32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914350" y="3872303"/>
            <a:ext cx="324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Garantizar la seguridad, trazabilidad e integridad de los datos.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4663390" y="2189807"/>
            <a:ext cx="3931800" cy="68580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9525">
            <a:solidFill>
              <a:srgbClr val="C7C4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28" name="Google Shape;228;p6"/>
          <p:cNvSpPr/>
          <p:nvPr/>
        </p:nvSpPr>
        <p:spPr>
          <a:xfrm>
            <a:off x="4773118" y="2372687"/>
            <a:ext cx="320100" cy="320100"/>
          </a:xfrm>
          <a:prstGeom prst="ellipse">
            <a:avLst/>
          </a:prstGeom>
          <a:solidFill>
            <a:srgbClr val="5B35D5"/>
          </a:solidFill>
          <a:ln cap="flat" cmpd="sng" w="12700">
            <a:solidFill>
              <a:srgbClr val="5B35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29" name="Google Shape;229;p6"/>
          <p:cNvSpPr/>
          <p:nvPr/>
        </p:nvSpPr>
        <p:spPr>
          <a:xfrm>
            <a:off x="4773118" y="2372687"/>
            <a:ext cx="32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5212030" y="2189807"/>
            <a:ext cx="324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Diseñar una arquitectura escalable Multi-Tenancy.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4663390" y="3031055"/>
            <a:ext cx="3931800" cy="68580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9525">
            <a:solidFill>
              <a:srgbClr val="C7C4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32" name="Google Shape;232;p6"/>
          <p:cNvSpPr/>
          <p:nvPr/>
        </p:nvSpPr>
        <p:spPr>
          <a:xfrm>
            <a:off x="4773118" y="3213935"/>
            <a:ext cx="320100" cy="320100"/>
          </a:xfrm>
          <a:prstGeom prst="ellipse">
            <a:avLst/>
          </a:prstGeom>
          <a:solidFill>
            <a:srgbClr val="5B35D5"/>
          </a:solidFill>
          <a:ln cap="flat" cmpd="sng" w="12700">
            <a:solidFill>
              <a:srgbClr val="5B35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33" name="Google Shape;233;p6"/>
          <p:cNvSpPr/>
          <p:nvPr/>
        </p:nvSpPr>
        <p:spPr>
          <a:xfrm>
            <a:off x="4773118" y="3213935"/>
            <a:ext cx="32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5212030" y="3031055"/>
            <a:ext cx="324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Elevar la calidad y consistencia de la marca empleadora.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49000" y="65450"/>
            <a:ext cx="1662000" cy="559800"/>
          </a:xfrm>
          <a:prstGeom prst="chevron">
            <a:avLst>
              <a:gd fmla="val 50000" name="adj"/>
            </a:avLst>
          </a:prstGeom>
          <a:solidFill>
            <a:srgbClr val="7C5CFC"/>
          </a:solidFill>
          <a:ln cap="flat" cmpd="sng" w="9525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OBJETIVO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1478650" y="65450"/>
            <a:ext cx="1492800" cy="559800"/>
          </a:xfrm>
          <a:prstGeom prst="chevron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HITO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2774225" y="65450"/>
            <a:ext cx="1898100" cy="559800"/>
          </a:xfrm>
          <a:prstGeom prst="chevron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STACK TECNOLÓGICO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7208288" y="65450"/>
            <a:ext cx="1492800" cy="559800"/>
          </a:xfrm>
          <a:prstGeom prst="chevron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DEMO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4440900" y="65450"/>
            <a:ext cx="1587900" cy="559800"/>
          </a:xfrm>
          <a:prstGeom prst="chevron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SEGURIDAD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5814725" y="65450"/>
            <a:ext cx="1614300" cy="559800"/>
          </a:xfrm>
          <a:prstGeom prst="chevron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IMPACTO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2FA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7"/>
          <p:cNvSpPr/>
          <p:nvPr/>
        </p:nvSpPr>
        <p:spPr>
          <a:xfrm>
            <a:off x="365760" y="960120"/>
            <a:ext cx="8412480" cy="68580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9525">
            <a:solidFill>
              <a:srgbClr val="C7C4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7"/>
          <p:cNvSpPr/>
          <p:nvPr/>
        </p:nvSpPr>
        <p:spPr>
          <a:xfrm>
            <a:off x="457200" y="1051560"/>
            <a:ext cx="502920" cy="502920"/>
          </a:xfrm>
          <a:prstGeom prst="roundRect">
            <a:avLst>
              <a:gd fmla="val 14545" name="adj"/>
            </a:avLst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7"/>
          <p:cNvSpPr/>
          <p:nvPr/>
        </p:nvSpPr>
        <p:spPr>
          <a:xfrm>
            <a:off x="457200" y="10515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1143000" y="960120"/>
            <a:ext cx="2926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A2E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F0A2E"/>
                </a:solidFill>
                <a:latin typeface="Arial"/>
                <a:ea typeface="Arial"/>
                <a:cs typeface="Arial"/>
                <a:sym typeface="Arial"/>
              </a:rPr>
              <a:t>Levantamiento de Requerimientos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0" name="Google Shape;250;p7"/>
          <p:cNvCxnSpPr/>
          <p:nvPr/>
        </p:nvCxnSpPr>
        <p:spPr>
          <a:xfrm>
            <a:off x="4160520" y="1124712"/>
            <a:ext cx="0" cy="347472"/>
          </a:xfrm>
          <a:prstGeom prst="straightConnector1">
            <a:avLst/>
          </a:prstGeom>
          <a:noFill/>
          <a:ln cap="flat" cmpd="sng" w="12700">
            <a:solidFill>
              <a:srgbClr val="C7C4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1" name="Google Shape;251;p7"/>
          <p:cNvSpPr/>
          <p:nvPr/>
        </p:nvSpPr>
        <p:spPr>
          <a:xfrm>
            <a:off x="4343400" y="960120"/>
            <a:ext cx="4297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Reuniones con Alloxentric para definir el alcance funcional y no funcional del sistema</a:t>
            </a:r>
            <a:r>
              <a:rPr lang="en-US" sz="1150">
                <a:solidFill>
                  <a:srgbClr val="374151"/>
                </a:solidFill>
              </a:rPr>
              <a:t>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365760" y="1764792"/>
            <a:ext cx="8412480" cy="68580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9525">
            <a:solidFill>
              <a:srgbClr val="C7C4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7"/>
          <p:cNvSpPr/>
          <p:nvPr/>
        </p:nvSpPr>
        <p:spPr>
          <a:xfrm>
            <a:off x="457200" y="1856232"/>
            <a:ext cx="502920" cy="502920"/>
          </a:xfrm>
          <a:prstGeom prst="roundRect">
            <a:avLst>
              <a:gd fmla="val 14545" name="adj"/>
            </a:avLst>
          </a:prstGeom>
          <a:solidFill>
            <a:srgbClr val="5B35D5"/>
          </a:solidFill>
          <a:ln cap="flat" cmpd="sng" w="12700">
            <a:solidFill>
              <a:srgbClr val="5B35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7"/>
          <p:cNvSpPr/>
          <p:nvPr/>
        </p:nvSpPr>
        <p:spPr>
          <a:xfrm>
            <a:off x="457200" y="185623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1143000" y="1764792"/>
            <a:ext cx="2926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A2E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F0A2E"/>
                </a:solidFill>
                <a:latin typeface="Arial"/>
                <a:ea typeface="Arial"/>
                <a:cs typeface="Arial"/>
                <a:sym typeface="Arial"/>
              </a:rPr>
              <a:t>Diseño de Arquitectura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6" name="Google Shape;256;p7"/>
          <p:cNvCxnSpPr/>
          <p:nvPr/>
        </p:nvCxnSpPr>
        <p:spPr>
          <a:xfrm>
            <a:off x="4160520" y="1929384"/>
            <a:ext cx="0" cy="347472"/>
          </a:xfrm>
          <a:prstGeom prst="straightConnector1">
            <a:avLst/>
          </a:prstGeom>
          <a:noFill/>
          <a:ln cap="flat" cmpd="sng" w="12700">
            <a:solidFill>
              <a:srgbClr val="C7C4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7" name="Google Shape;257;p7"/>
          <p:cNvSpPr/>
          <p:nvPr/>
        </p:nvSpPr>
        <p:spPr>
          <a:xfrm>
            <a:off x="4343400" y="1764792"/>
            <a:ext cx="4297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Definición de stack tecnológico, modelo de datos NoSQL y prototipado de interfaz.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365760" y="2569464"/>
            <a:ext cx="8412480" cy="68580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9525">
            <a:solidFill>
              <a:srgbClr val="C7C4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7"/>
          <p:cNvSpPr/>
          <p:nvPr/>
        </p:nvSpPr>
        <p:spPr>
          <a:xfrm>
            <a:off x="457200" y="2660904"/>
            <a:ext cx="502920" cy="502920"/>
          </a:xfrm>
          <a:prstGeom prst="roundRect">
            <a:avLst>
              <a:gd fmla="val 14545" name="adj"/>
            </a:avLst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7"/>
          <p:cNvSpPr/>
          <p:nvPr/>
        </p:nvSpPr>
        <p:spPr>
          <a:xfrm>
            <a:off x="457200" y="266090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1143000" y="2569464"/>
            <a:ext cx="2926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A2E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F0A2E"/>
                </a:solidFill>
                <a:latin typeface="Arial"/>
                <a:ea typeface="Arial"/>
                <a:cs typeface="Arial"/>
                <a:sym typeface="Arial"/>
              </a:rPr>
              <a:t>Desarrollo del Core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2" name="Google Shape;262;p7"/>
          <p:cNvCxnSpPr/>
          <p:nvPr/>
        </p:nvCxnSpPr>
        <p:spPr>
          <a:xfrm>
            <a:off x="4160520" y="2734056"/>
            <a:ext cx="0" cy="347472"/>
          </a:xfrm>
          <a:prstGeom prst="straightConnector1">
            <a:avLst/>
          </a:prstGeom>
          <a:noFill/>
          <a:ln cap="flat" cmpd="sng" w="12700">
            <a:solidFill>
              <a:srgbClr val="C7C4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3" name="Google Shape;263;p7"/>
          <p:cNvSpPr/>
          <p:nvPr/>
        </p:nvSpPr>
        <p:spPr>
          <a:xfrm>
            <a:off x="4343400" y="2569464"/>
            <a:ext cx="4297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Implementación del flujo de 4 pasos, autenticación RBAC y asistente Sofi IA.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365760" y="3374136"/>
            <a:ext cx="8412480" cy="68580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9525">
            <a:solidFill>
              <a:srgbClr val="C7C4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7"/>
          <p:cNvSpPr/>
          <p:nvPr/>
        </p:nvSpPr>
        <p:spPr>
          <a:xfrm>
            <a:off x="457200" y="3465576"/>
            <a:ext cx="502920" cy="502920"/>
          </a:xfrm>
          <a:prstGeom prst="roundRect">
            <a:avLst>
              <a:gd fmla="val 14545" name="adj"/>
            </a:avLst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7"/>
          <p:cNvSpPr/>
          <p:nvPr/>
        </p:nvSpPr>
        <p:spPr>
          <a:xfrm>
            <a:off x="457200" y="346557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1143000" y="3374136"/>
            <a:ext cx="2926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A2E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F0A2E"/>
                </a:solidFill>
                <a:latin typeface="Arial"/>
                <a:ea typeface="Arial"/>
                <a:cs typeface="Arial"/>
                <a:sym typeface="Arial"/>
              </a:rPr>
              <a:t>Integración de Portales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8" name="Google Shape;268;p7"/>
          <p:cNvCxnSpPr/>
          <p:nvPr/>
        </p:nvCxnSpPr>
        <p:spPr>
          <a:xfrm>
            <a:off x="4160520" y="3538728"/>
            <a:ext cx="0" cy="347472"/>
          </a:xfrm>
          <a:prstGeom prst="straightConnector1">
            <a:avLst/>
          </a:prstGeom>
          <a:noFill/>
          <a:ln cap="flat" cmpd="sng" w="12700">
            <a:solidFill>
              <a:srgbClr val="C7C4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9" name="Google Shape;269;p7"/>
          <p:cNvSpPr/>
          <p:nvPr/>
        </p:nvSpPr>
        <p:spPr>
          <a:xfrm>
            <a:off x="4343400" y="3374136"/>
            <a:ext cx="4297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Conexión con portales de empleo en 7 países con recomendación inteligente por IA.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365760" y="4178808"/>
            <a:ext cx="8412480" cy="68580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9525">
            <a:solidFill>
              <a:srgbClr val="C7C4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7"/>
          <p:cNvSpPr/>
          <p:nvPr/>
        </p:nvSpPr>
        <p:spPr>
          <a:xfrm>
            <a:off x="457200" y="4270248"/>
            <a:ext cx="502920" cy="502920"/>
          </a:xfrm>
          <a:prstGeom prst="roundRect">
            <a:avLst>
              <a:gd fmla="val 14545" name="adj"/>
            </a:avLst>
          </a:prstGeom>
          <a:solidFill>
            <a:srgbClr val="047857"/>
          </a:solidFill>
          <a:ln cap="flat" cmpd="sng" w="12700">
            <a:solidFill>
              <a:srgbClr val="0478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7"/>
          <p:cNvSpPr/>
          <p:nvPr/>
        </p:nvSpPr>
        <p:spPr>
          <a:xfrm>
            <a:off x="457200" y="427024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1143000" y="4178808"/>
            <a:ext cx="2926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A2E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F0A2E"/>
                </a:solidFill>
                <a:latin typeface="Arial"/>
                <a:ea typeface="Arial"/>
                <a:cs typeface="Arial"/>
                <a:sym typeface="Arial"/>
              </a:rPr>
              <a:t>Pruebas y Validación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4" name="Google Shape;274;p7"/>
          <p:cNvCxnSpPr/>
          <p:nvPr/>
        </p:nvCxnSpPr>
        <p:spPr>
          <a:xfrm>
            <a:off x="4160520" y="4343400"/>
            <a:ext cx="0" cy="347472"/>
          </a:xfrm>
          <a:prstGeom prst="straightConnector1">
            <a:avLst/>
          </a:prstGeom>
          <a:noFill/>
          <a:ln cap="flat" cmpd="sng" w="12700">
            <a:solidFill>
              <a:srgbClr val="C7C4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5" name="Google Shape;275;p7"/>
          <p:cNvSpPr/>
          <p:nvPr/>
        </p:nvSpPr>
        <p:spPr>
          <a:xfrm>
            <a:off x="4343400" y="4178808"/>
            <a:ext cx="4297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Pruebas funcionales, de integración y de usabilidad con resultados satisfactorios.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55725" y="53775"/>
            <a:ext cx="1492800" cy="559800"/>
          </a:xfrm>
          <a:prstGeom prst="chevron">
            <a:avLst>
              <a:gd fmla="val 50000" name="adj"/>
            </a:avLst>
          </a:prstGeom>
          <a:solidFill>
            <a:srgbClr val="7C5CFC"/>
          </a:solidFill>
          <a:ln cap="flat" cmpd="sng" w="9525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HITOS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1351300" y="53775"/>
            <a:ext cx="1898100" cy="559800"/>
          </a:xfrm>
          <a:prstGeom prst="chevron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STACK TECNOLÓGICO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3006325" y="53775"/>
            <a:ext cx="1587900" cy="559800"/>
          </a:xfrm>
          <a:prstGeom prst="chevron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SEGURIDAD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4380150" y="53775"/>
            <a:ext cx="1614300" cy="559800"/>
          </a:xfrm>
          <a:prstGeom prst="chevron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IMPACTO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6874375" y="53775"/>
            <a:ext cx="1766700" cy="559800"/>
          </a:xfrm>
          <a:prstGeom prst="chevron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CONCLUSIÓN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5756250" y="53775"/>
            <a:ext cx="1346400" cy="559800"/>
          </a:xfrm>
          <a:prstGeom prst="chevron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DEMO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2FA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8"/>
          <p:cNvSpPr/>
          <p:nvPr/>
        </p:nvSpPr>
        <p:spPr>
          <a:xfrm>
            <a:off x="365760" y="960120"/>
            <a:ext cx="3931800" cy="10974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C7C4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8"/>
          <p:cNvSpPr/>
          <p:nvPr/>
        </p:nvSpPr>
        <p:spPr>
          <a:xfrm>
            <a:off x="475488" y="1069848"/>
            <a:ext cx="822900" cy="301800"/>
          </a:xfrm>
          <a:prstGeom prst="roundRect">
            <a:avLst>
              <a:gd fmla="val 21212" name="adj"/>
            </a:avLst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8"/>
          <p:cNvSpPr/>
          <p:nvPr/>
        </p:nvSpPr>
        <p:spPr>
          <a:xfrm>
            <a:off x="475488" y="1069848"/>
            <a:ext cx="8229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1644252" y="1172615"/>
            <a:ext cx="2043900" cy="67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50"/>
              <a:buFont typeface="Arial"/>
              <a:buNone/>
            </a:pPr>
            <a:r>
              <a:rPr lang="en-US" sz="2250">
                <a:solidFill>
                  <a:srgbClr val="374151"/>
                </a:solidFill>
              </a:rPr>
              <a:t>⚛️ React 18 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4663440" y="960120"/>
            <a:ext cx="3931800" cy="10974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C7C4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8"/>
          <p:cNvSpPr/>
          <p:nvPr/>
        </p:nvSpPr>
        <p:spPr>
          <a:xfrm>
            <a:off x="4773168" y="1069848"/>
            <a:ext cx="822900" cy="301800"/>
          </a:xfrm>
          <a:prstGeom prst="roundRect">
            <a:avLst>
              <a:gd fmla="val 21212" name="adj"/>
            </a:avLst>
          </a:prstGeom>
          <a:solidFill>
            <a:srgbClr val="5B35D5"/>
          </a:solidFill>
          <a:ln cap="flat" cmpd="sng" w="12700">
            <a:solidFill>
              <a:srgbClr val="5B35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8"/>
          <p:cNvSpPr/>
          <p:nvPr/>
        </p:nvSpPr>
        <p:spPr>
          <a:xfrm>
            <a:off x="4773168" y="1069848"/>
            <a:ext cx="8229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5504125" y="1118163"/>
            <a:ext cx="29085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50"/>
              <a:buFont typeface="Arial"/>
              <a:buNone/>
            </a:pPr>
            <a:r>
              <a:rPr lang="en-US" sz="1550">
                <a:solidFill>
                  <a:srgbClr val="374151"/>
                </a:solidFill>
              </a:rPr>
              <a:t>🐍 Python 3.12 + 🚀 FastAPI 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365760" y="2286000"/>
            <a:ext cx="3931800" cy="10974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C7C4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8"/>
          <p:cNvSpPr/>
          <p:nvPr/>
        </p:nvSpPr>
        <p:spPr>
          <a:xfrm>
            <a:off x="475488" y="2395728"/>
            <a:ext cx="822900" cy="301800"/>
          </a:xfrm>
          <a:prstGeom prst="roundRect">
            <a:avLst>
              <a:gd fmla="val 21212" name="adj"/>
            </a:avLst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8"/>
          <p:cNvSpPr/>
          <p:nvPr/>
        </p:nvSpPr>
        <p:spPr>
          <a:xfrm>
            <a:off x="475488" y="2395728"/>
            <a:ext cx="8229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IA &amp; Datos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1411200" y="2560300"/>
            <a:ext cx="2364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50"/>
              <a:buFont typeface="Arial"/>
              <a:buNone/>
            </a:pPr>
            <a:r>
              <a:rPr lang="en-US" sz="1850">
                <a:solidFill>
                  <a:srgbClr val="374151"/>
                </a:solidFill>
              </a:rPr>
              <a:t>🤖 Google Gemini  </a:t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4663440" y="2286000"/>
            <a:ext cx="3931800" cy="10974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C7C4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8"/>
          <p:cNvSpPr/>
          <p:nvPr/>
        </p:nvSpPr>
        <p:spPr>
          <a:xfrm>
            <a:off x="4773168" y="2395728"/>
            <a:ext cx="822900" cy="301800"/>
          </a:xfrm>
          <a:prstGeom prst="roundRect">
            <a:avLst>
              <a:gd fmla="val 21212" name="adj"/>
            </a:avLst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8"/>
          <p:cNvSpPr/>
          <p:nvPr/>
        </p:nvSpPr>
        <p:spPr>
          <a:xfrm>
            <a:off x="4773168" y="2395728"/>
            <a:ext cx="8229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Seguridad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5762125" y="2447875"/>
            <a:ext cx="25929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50"/>
              <a:buFont typeface="Arial"/>
              <a:buNone/>
            </a:pPr>
            <a:r>
              <a:rPr lang="en-US" sz="1550">
                <a:solidFill>
                  <a:srgbClr val="374151"/>
                </a:solidFill>
              </a:rPr>
              <a:t>🔥 Firebase Authentication 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365760" y="3611880"/>
            <a:ext cx="3931800" cy="10974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C7C4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8"/>
          <p:cNvSpPr/>
          <p:nvPr/>
        </p:nvSpPr>
        <p:spPr>
          <a:xfrm>
            <a:off x="475488" y="3721608"/>
            <a:ext cx="822900" cy="301800"/>
          </a:xfrm>
          <a:prstGeom prst="roundRect">
            <a:avLst>
              <a:gd fmla="val 21212" name="adj"/>
            </a:avLst>
          </a:prstGeom>
          <a:solidFill>
            <a:srgbClr val="047857"/>
          </a:solidFill>
          <a:ln cap="flat" cmpd="sng" w="12700">
            <a:solidFill>
              <a:srgbClr val="0478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8"/>
          <p:cNvSpPr/>
          <p:nvPr/>
        </p:nvSpPr>
        <p:spPr>
          <a:xfrm>
            <a:off x="475488" y="3721608"/>
            <a:ext cx="8229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Pagos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683990" y="3931556"/>
            <a:ext cx="3566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💳transbank/stripe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4663440" y="3611880"/>
            <a:ext cx="3931800" cy="10974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C7C4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8"/>
          <p:cNvSpPr/>
          <p:nvPr/>
        </p:nvSpPr>
        <p:spPr>
          <a:xfrm>
            <a:off x="4773168" y="3721608"/>
            <a:ext cx="822900" cy="301800"/>
          </a:xfrm>
          <a:prstGeom prst="roundRect">
            <a:avLst>
              <a:gd fmla="val 21212" name="adj"/>
            </a:avLst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8"/>
          <p:cNvSpPr/>
          <p:nvPr/>
        </p:nvSpPr>
        <p:spPr>
          <a:xfrm>
            <a:off x="4773168" y="3721608"/>
            <a:ext cx="8229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Infra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5762125" y="3775850"/>
            <a:ext cx="2650200" cy="8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50"/>
              <a:buFont typeface="Arial"/>
              <a:buNone/>
            </a:pPr>
            <a:r>
              <a:rPr lang="en-US" sz="1750">
                <a:solidFill>
                  <a:srgbClr val="374151"/>
                </a:solidFill>
              </a:rPr>
              <a:t>🐳 Docker + 📦 Docker Compose + 🌐 Nginx 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48975" y="62000"/>
            <a:ext cx="2214900" cy="559800"/>
          </a:xfrm>
          <a:prstGeom prst="chevron">
            <a:avLst>
              <a:gd fmla="val 50000" name="adj"/>
            </a:avLst>
          </a:prstGeom>
          <a:solidFill>
            <a:srgbClr val="7C5CFC"/>
          </a:solidFill>
          <a:ln cap="flat" cmpd="sng" w="9525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STACK TECNOLÓGICO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2067400" y="62000"/>
            <a:ext cx="1587900" cy="559800"/>
          </a:xfrm>
          <a:prstGeom prst="chevron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SEGURIDAD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3441225" y="62000"/>
            <a:ext cx="1614300" cy="559800"/>
          </a:xfrm>
          <a:prstGeom prst="chevron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IMPACTO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6075025" y="62000"/>
            <a:ext cx="1766700" cy="559800"/>
          </a:xfrm>
          <a:prstGeom prst="chevron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CONCLUSIÓN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4823288" y="62000"/>
            <a:ext cx="1492800" cy="559800"/>
          </a:xfrm>
          <a:prstGeom prst="chevron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DEMO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2FA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0"/>
          <p:cNvSpPr/>
          <p:nvPr/>
        </p:nvSpPr>
        <p:spPr>
          <a:xfrm>
            <a:off x="457200" y="860188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A2E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0F0A2E"/>
                </a:solidFill>
                <a:latin typeface="Arial"/>
                <a:ea typeface="Arial"/>
                <a:cs typeface="Arial"/>
                <a:sym typeface="Arial"/>
              </a:rPr>
              <a:t>Seguridad y Gobernanza de da</a:t>
            </a:r>
            <a:r>
              <a:rPr b="1" lang="en-US" sz="3000">
                <a:solidFill>
                  <a:srgbClr val="0F0A2E"/>
                </a:solidFill>
              </a:rPr>
              <a:t>tos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411485" y="1601595"/>
            <a:ext cx="2651700" cy="1600200"/>
          </a:xfrm>
          <a:prstGeom prst="roundRect">
            <a:avLst>
              <a:gd fmla="val 6857" name="adj"/>
            </a:avLst>
          </a:prstGeom>
          <a:solidFill>
            <a:srgbClr val="FFFFFF"/>
          </a:solidFill>
          <a:ln cap="flat" cmpd="sng" w="9525">
            <a:solidFill>
              <a:srgbClr val="C7C4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0"/>
          <p:cNvSpPr/>
          <p:nvPr/>
        </p:nvSpPr>
        <p:spPr>
          <a:xfrm>
            <a:off x="411485" y="1766187"/>
            <a:ext cx="2651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🔐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411485" y="2195955"/>
            <a:ext cx="2651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A2E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F0A2E"/>
                </a:solidFill>
                <a:latin typeface="Arial"/>
                <a:ea typeface="Arial"/>
                <a:cs typeface="Arial"/>
                <a:sym typeface="Arial"/>
              </a:rPr>
              <a:t>Autenticación segura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0"/>
          <p:cNvSpPr/>
          <p:nvPr/>
        </p:nvSpPr>
        <p:spPr>
          <a:xfrm>
            <a:off x="521213" y="2543427"/>
            <a:ext cx="2423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Firebase Auth con soporte nativo, Google y Microsoft.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0"/>
          <p:cNvSpPr/>
          <p:nvPr/>
        </p:nvSpPr>
        <p:spPr>
          <a:xfrm>
            <a:off x="3246125" y="1601595"/>
            <a:ext cx="2651700" cy="1600200"/>
          </a:xfrm>
          <a:prstGeom prst="roundRect">
            <a:avLst>
              <a:gd fmla="val 6857" name="adj"/>
            </a:avLst>
          </a:prstGeom>
          <a:solidFill>
            <a:srgbClr val="FFFFFF"/>
          </a:solidFill>
          <a:ln cap="flat" cmpd="sng" w="9525">
            <a:solidFill>
              <a:srgbClr val="C7C4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0"/>
          <p:cNvSpPr/>
          <p:nvPr/>
        </p:nvSpPr>
        <p:spPr>
          <a:xfrm>
            <a:off x="3246125" y="1766187"/>
            <a:ext cx="2651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👥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3246125" y="2195955"/>
            <a:ext cx="2651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A2E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F0A2E"/>
                </a:solidFill>
                <a:latin typeface="Arial"/>
                <a:ea typeface="Arial"/>
                <a:cs typeface="Arial"/>
                <a:sym typeface="Arial"/>
              </a:rPr>
              <a:t>Control de acceso RBAC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3355853" y="2543427"/>
            <a:ext cx="2423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4 roles: Administrador, Reclutador, Auditor y Postulante.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6080765" y="1601595"/>
            <a:ext cx="2651700" cy="1600200"/>
          </a:xfrm>
          <a:prstGeom prst="roundRect">
            <a:avLst>
              <a:gd fmla="val 6857" name="adj"/>
            </a:avLst>
          </a:prstGeom>
          <a:solidFill>
            <a:srgbClr val="FFFFFF"/>
          </a:solidFill>
          <a:ln cap="flat" cmpd="sng" w="9525">
            <a:solidFill>
              <a:srgbClr val="C7C4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0"/>
          <p:cNvSpPr/>
          <p:nvPr/>
        </p:nvSpPr>
        <p:spPr>
          <a:xfrm>
            <a:off x="6080765" y="1766187"/>
            <a:ext cx="2651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📝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6080765" y="2195955"/>
            <a:ext cx="2651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A2E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F0A2E"/>
                </a:solidFill>
                <a:latin typeface="Arial"/>
                <a:ea typeface="Arial"/>
                <a:cs typeface="Arial"/>
                <a:sym typeface="Arial"/>
              </a:rPr>
              <a:t>Audit Logs inmutables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6190493" y="2543427"/>
            <a:ext cx="2423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Registro de cada acción: quién, qué y cuándo.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411485" y="3430395"/>
            <a:ext cx="2651700" cy="1600200"/>
          </a:xfrm>
          <a:prstGeom prst="roundRect">
            <a:avLst>
              <a:gd fmla="val 6857" name="adj"/>
            </a:avLst>
          </a:prstGeom>
          <a:solidFill>
            <a:srgbClr val="FFFFFF"/>
          </a:solidFill>
          <a:ln cap="flat" cmpd="sng" w="9525">
            <a:solidFill>
              <a:srgbClr val="C7C4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0"/>
          <p:cNvSpPr/>
          <p:nvPr/>
        </p:nvSpPr>
        <p:spPr>
          <a:xfrm>
            <a:off x="411485" y="3594987"/>
            <a:ext cx="2651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🏢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411485" y="4024755"/>
            <a:ext cx="2651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A2E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F0A2E"/>
                </a:solidFill>
                <a:latin typeface="Arial"/>
                <a:ea typeface="Arial"/>
                <a:cs typeface="Arial"/>
                <a:sym typeface="Arial"/>
              </a:rPr>
              <a:t>Multi-Tenancy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521213" y="4372227"/>
            <a:ext cx="2423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Aislamiento de datos por organización con client_id.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3246125" y="3430395"/>
            <a:ext cx="2651700" cy="1600200"/>
          </a:xfrm>
          <a:prstGeom prst="roundRect">
            <a:avLst>
              <a:gd fmla="val 6857" name="adj"/>
            </a:avLst>
          </a:prstGeom>
          <a:solidFill>
            <a:srgbClr val="FFFFFF"/>
          </a:solidFill>
          <a:ln cap="flat" cmpd="sng" w="9525">
            <a:solidFill>
              <a:srgbClr val="C7C4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0"/>
          <p:cNvSpPr/>
          <p:nvPr/>
        </p:nvSpPr>
        <p:spPr>
          <a:xfrm>
            <a:off x="3246125" y="3594987"/>
            <a:ext cx="2651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💳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3246125" y="4024755"/>
            <a:ext cx="2651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A2E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F0A2E"/>
                </a:solidFill>
                <a:latin typeface="Arial"/>
                <a:ea typeface="Arial"/>
                <a:cs typeface="Arial"/>
                <a:sym typeface="Arial"/>
              </a:rPr>
              <a:t>Pagos seguros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0"/>
          <p:cNvSpPr/>
          <p:nvPr/>
        </p:nvSpPr>
        <p:spPr>
          <a:xfrm>
            <a:off x="3355853" y="4372227"/>
            <a:ext cx="2423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Stripe gestiona los pagos. Sin almacenamiento de tarjetas.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6080765" y="3430395"/>
            <a:ext cx="2651700" cy="1600200"/>
          </a:xfrm>
          <a:prstGeom prst="roundRect">
            <a:avLst>
              <a:gd fmla="val 6857" name="adj"/>
            </a:avLst>
          </a:prstGeom>
          <a:solidFill>
            <a:srgbClr val="FFFFFF"/>
          </a:solidFill>
          <a:ln cap="flat" cmpd="sng" w="9525">
            <a:solidFill>
              <a:srgbClr val="C7C4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0"/>
          <p:cNvSpPr/>
          <p:nvPr/>
        </p:nvSpPr>
        <p:spPr>
          <a:xfrm>
            <a:off x="6080765" y="3594987"/>
            <a:ext cx="2651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🤖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0"/>
          <p:cNvSpPr/>
          <p:nvPr/>
        </p:nvSpPr>
        <p:spPr>
          <a:xfrm>
            <a:off x="6080765" y="4024755"/>
            <a:ext cx="2651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A2E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F0A2E"/>
                </a:solidFill>
                <a:latin typeface="Arial"/>
                <a:ea typeface="Arial"/>
                <a:cs typeface="Arial"/>
                <a:sym typeface="Arial"/>
              </a:rPr>
              <a:t>Human in the Loop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6190493" y="4372227"/>
            <a:ext cx="2423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La IA sugiere, el humano decide y aprueba cada publicación.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48975" y="107700"/>
            <a:ext cx="1833600" cy="559800"/>
          </a:xfrm>
          <a:prstGeom prst="chevron">
            <a:avLst>
              <a:gd fmla="val 50000" name="adj"/>
            </a:avLst>
          </a:prstGeom>
          <a:solidFill>
            <a:srgbClr val="7C5CFC"/>
          </a:solidFill>
          <a:ln cap="flat" cmpd="sng" w="9525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SEGURIDAD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47" name="Google Shape;347;p10"/>
          <p:cNvSpPr/>
          <p:nvPr/>
        </p:nvSpPr>
        <p:spPr>
          <a:xfrm>
            <a:off x="1668425" y="107700"/>
            <a:ext cx="1614300" cy="559800"/>
          </a:xfrm>
          <a:prstGeom prst="chevron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IMPACTO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3042575" y="107700"/>
            <a:ext cx="1766700" cy="559800"/>
          </a:xfrm>
          <a:prstGeom prst="chevron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CONCLUSIÓN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2FA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1"/>
          <p:cNvSpPr/>
          <p:nvPr/>
        </p:nvSpPr>
        <p:spPr>
          <a:xfrm>
            <a:off x="365760" y="914400"/>
            <a:ext cx="1920240" cy="1463040"/>
          </a:xfrm>
          <a:prstGeom prst="roundRect">
            <a:avLst>
              <a:gd fmla="val 7500" name="adj"/>
            </a:avLst>
          </a:prstGeom>
          <a:solidFill>
            <a:srgbClr val="FFFFFF"/>
          </a:solidFill>
          <a:ln cap="flat" cmpd="sng" w="9525">
            <a:solidFill>
              <a:srgbClr val="C7C4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1"/>
          <p:cNvSpPr/>
          <p:nvPr/>
        </p:nvSpPr>
        <p:spPr>
          <a:xfrm>
            <a:off x="365760" y="987552"/>
            <a:ext cx="19202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35D5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5B35D5"/>
                </a:solidFill>
                <a:latin typeface="Arial"/>
                <a:ea typeface="Arial"/>
                <a:cs typeface="Arial"/>
                <a:sym typeface="Arial"/>
              </a:rPr>
              <a:t>−</a:t>
            </a:r>
            <a:r>
              <a:rPr b="1" lang="en-US" sz="3400">
                <a:solidFill>
                  <a:srgbClr val="5B35D5"/>
                </a:solidFill>
              </a:rPr>
              <a:t>65</a:t>
            </a:r>
            <a:r>
              <a:rPr b="1" lang="en-US" sz="3400">
                <a:solidFill>
                  <a:srgbClr val="5B35D5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1"/>
          <p:cNvSpPr/>
          <p:nvPr/>
        </p:nvSpPr>
        <p:spPr>
          <a:xfrm>
            <a:off x="438912" y="1700784"/>
            <a:ext cx="177393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374151"/>
                </a:solidFill>
              </a:rPr>
              <a:t>Desde un 83% de reducción del tiempo de publicación 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2560320" y="914400"/>
            <a:ext cx="1920240" cy="1463040"/>
          </a:xfrm>
          <a:prstGeom prst="roundRect">
            <a:avLst>
              <a:gd fmla="val 7500" name="adj"/>
            </a:avLst>
          </a:prstGeom>
          <a:solidFill>
            <a:srgbClr val="FFFFFF"/>
          </a:solidFill>
          <a:ln cap="flat" cmpd="sng" w="9525">
            <a:solidFill>
              <a:srgbClr val="C7C4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1"/>
          <p:cNvSpPr/>
          <p:nvPr/>
        </p:nvSpPr>
        <p:spPr>
          <a:xfrm>
            <a:off x="2560320" y="987552"/>
            <a:ext cx="19202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1"/>
          <p:cNvSpPr/>
          <p:nvPr/>
        </p:nvSpPr>
        <p:spPr>
          <a:xfrm>
            <a:off x="2633472" y="1700784"/>
            <a:ext cx="177393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Países cubiertos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simultáneamente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1"/>
          <p:cNvSpPr/>
          <p:nvPr/>
        </p:nvSpPr>
        <p:spPr>
          <a:xfrm>
            <a:off x="4754880" y="914400"/>
            <a:ext cx="1920240" cy="1463040"/>
          </a:xfrm>
          <a:prstGeom prst="roundRect">
            <a:avLst>
              <a:gd fmla="val 7500" name="adj"/>
            </a:avLst>
          </a:prstGeom>
          <a:solidFill>
            <a:srgbClr val="FFFFFF"/>
          </a:solidFill>
          <a:ln cap="flat" cmpd="sng" w="9525">
            <a:solidFill>
              <a:srgbClr val="C7C4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1"/>
          <p:cNvSpPr/>
          <p:nvPr/>
        </p:nvSpPr>
        <p:spPr>
          <a:xfrm>
            <a:off x="4754880" y="987552"/>
            <a:ext cx="19202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rPr>
              <a:t>20+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1"/>
          <p:cNvSpPr/>
          <p:nvPr/>
        </p:nvSpPr>
        <p:spPr>
          <a:xfrm>
            <a:off x="4828032" y="1700784"/>
            <a:ext cx="177393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Portales de empleo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integrados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1"/>
          <p:cNvSpPr/>
          <p:nvPr/>
        </p:nvSpPr>
        <p:spPr>
          <a:xfrm>
            <a:off x="6949440" y="914400"/>
            <a:ext cx="1920240" cy="1463040"/>
          </a:xfrm>
          <a:prstGeom prst="roundRect">
            <a:avLst>
              <a:gd fmla="val 7500" name="adj"/>
            </a:avLst>
          </a:prstGeom>
          <a:solidFill>
            <a:srgbClr val="FFFFFF"/>
          </a:solidFill>
          <a:ln cap="flat" cmpd="sng" w="9525">
            <a:solidFill>
              <a:srgbClr val="C7C4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1"/>
          <p:cNvSpPr/>
          <p:nvPr/>
        </p:nvSpPr>
        <p:spPr>
          <a:xfrm>
            <a:off x="6949440" y="987552"/>
            <a:ext cx="19202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047857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1"/>
          <p:cNvSpPr/>
          <p:nvPr/>
        </p:nvSpPr>
        <p:spPr>
          <a:xfrm>
            <a:off x="7022592" y="1700784"/>
            <a:ext cx="1773936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Roles de usuario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con RBAC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1"/>
          <p:cNvSpPr/>
          <p:nvPr/>
        </p:nvSpPr>
        <p:spPr>
          <a:xfrm>
            <a:off x="457200" y="248716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A2E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F0A2E"/>
                </a:solidFill>
                <a:latin typeface="Arial"/>
                <a:ea typeface="Arial"/>
                <a:cs typeface="Arial"/>
                <a:sym typeface="Arial"/>
              </a:rPr>
              <a:t>Antes vs Después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7" name="Google Shape;367;p11"/>
          <p:cNvGraphicFramePr/>
          <p:nvPr/>
        </p:nvGraphicFramePr>
        <p:xfrm>
          <a:off x="365760" y="28803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{5ED8CF9B-86C4-4559-9D83-2D41FA864E9C}</a:tableStyleId>
              </a:tblPr>
              <a:tblGrid>
                <a:gridCol w="2560325"/>
                <a:gridCol w="2926075"/>
                <a:gridCol w="29260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0A2E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F0A2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ASPECTO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E6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91B1B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991B1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ANTES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F46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65F4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DESPUÉS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FAE5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37415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Tiempo por vacante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37415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30–60 min / portal (manual)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>
                          <a:solidFill>
                            <a:srgbClr val="374151"/>
                          </a:solidFill>
                        </a:rPr>
                        <a:t>10-15 min / portal (automatizado)</a:t>
                      </a:r>
                      <a:endParaRPr sz="1050">
                        <a:solidFill>
                          <a:srgbClr val="374151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37415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Reducción </a:t>
                      </a:r>
                      <a:r>
                        <a:rPr lang="en-US" sz="1050">
                          <a:solidFill>
                            <a:srgbClr val="374151"/>
                          </a:solidFill>
                        </a:rPr>
                        <a:t>de un </a:t>
                      </a:r>
                      <a:r>
                        <a:rPr lang="en-US" sz="1050" u="none" cap="none" strike="noStrike">
                          <a:solidFill>
                            <a:srgbClr val="37415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~</a:t>
                      </a:r>
                      <a:r>
                        <a:rPr lang="en-US" sz="1050">
                          <a:solidFill>
                            <a:srgbClr val="374151"/>
                          </a:solidFill>
                        </a:rPr>
                        <a:t>65</a:t>
                      </a:r>
                      <a:r>
                        <a:rPr lang="en-US" sz="1050" u="none" cap="none" strike="noStrike">
                          <a:solidFill>
                            <a:srgbClr val="37415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con publicación guiada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37415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Consistencia del contenido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37415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Variable, sin estándar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37415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Uniforme, generada por Sofi IA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37415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Cobertura de portales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37415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1–2 portales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37415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20+ portales en múltiples países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37415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Trazabilidad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37415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Sin registro centralizado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7415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37415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Logs inmutables completos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7C4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368" name="Google Shape;368;p11"/>
          <p:cNvSpPr/>
          <p:nvPr/>
        </p:nvSpPr>
        <p:spPr>
          <a:xfrm>
            <a:off x="58900" y="61050"/>
            <a:ext cx="1614300" cy="559800"/>
          </a:xfrm>
          <a:prstGeom prst="chevron">
            <a:avLst>
              <a:gd fmla="val 50000" name="adj"/>
            </a:avLst>
          </a:prstGeom>
          <a:solidFill>
            <a:srgbClr val="7C5CFC"/>
          </a:solidFill>
          <a:ln cap="flat" cmpd="sng" w="9525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IMPACTO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69" name="Google Shape;369;p11"/>
          <p:cNvSpPr/>
          <p:nvPr/>
        </p:nvSpPr>
        <p:spPr>
          <a:xfrm>
            <a:off x="2713850" y="61050"/>
            <a:ext cx="1766700" cy="559800"/>
          </a:xfrm>
          <a:prstGeom prst="chevron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CONCLUSIÓN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70" name="Google Shape;370;p11"/>
          <p:cNvSpPr/>
          <p:nvPr/>
        </p:nvSpPr>
        <p:spPr>
          <a:xfrm>
            <a:off x="1433263" y="61050"/>
            <a:ext cx="1492800" cy="559800"/>
          </a:xfrm>
          <a:prstGeom prst="chevron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DEMO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2FA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9"/>
          <p:cNvSpPr/>
          <p:nvPr/>
        </p:nvSpPr>
        <p:spPr>
          <a:xfrm>
            <a:off x="365760" y="914400"/>
            <a:ext cx="1920240" cy="32004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9525">
            <a:solidFill>
              <a:srgbClr val="C7C4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9"/>
          <p:cNvSpPr/>
          <p:nvPr/>
        </p:nvSpPr>
        <p:spPr>
          <a:xfrm>
            <a:off x="960120" y="1078992"/>
            <a:ext cx="731520" cy="731520"/>
          </a:xfrm>
          <a:prstGeom prst="ellipse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9"/>
          <p:cNvSpPr/>
          <p:nvPr/>
        </p:nvSpPr>
        <p:spPr>
          <a:xfrm>
            <a:off x="960120" y="1078992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9"/>
          <p:cNvSpPr/>
          <p:nvPr/>
        </p:nvSpPr>
        <p:spPr>
          <a:xfrm>
            <a:off x="365760" y="193852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PASO 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9"/>
          <p:cNvSpPr/>
          <p:nvPr/>
        </p:nvSpPr>
        <p:spPr>
          <a:xfrm>
            <a:off x="365760" y="219456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A2E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0F0A2E"/>
                </a:solidFill>
                <a:latin typeface="Arial"/>
                <a:ea typeface="Arial"/>
                <a:cs typeface="Arial"/>
                <a:sym typeface="Arial"/>
              </a:rPr>
              <a:t>Vacante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9"/>
          <p:cNvSpPr/>
          <p:nvPr/>
        </p:nvSpPr>
        <p:spPr>
          <a:xfrm>
            <a:off x="475488" y="2743200"/>
            <a:ext cx="16916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Selecciona o crea una vacante existente con código único.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9"/>
          <p:cNvSpPr/>
          <p:nvPr/>
        </p:nvSpPr>
        <p:spPr>
          <a:xfrm>
            <a:off x="2167125" y="2011650"/>
            <a:ext cx="521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35D5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5B35D5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9"/>
          <p:cNvSpPr/>
          <p:nvPr/>
        </p:nvSpPr>
        <p:spPr>
          <a:xfrm>
            <a:off x="2560320" y="914400"/>
            <a:ext cx="1920240" cy="32004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9525">
            <a:solidFill>
              <a:srgbClr val="C7C4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9"/>
          <p:cNvSpPr/>
          <p:nvPr/>
        </p:nvSpPr>
        <p:spPr>
          <a:xfrm>
            <a:off x="3154680" y="1078992"/>
            <a:ext cx="731520" cy="731520"/>
          </a:xfrm>
          <a:prstGeom prst="ellipse">
            <a:avLst/>
          </a:prstGeom>
          <a:solidFill>
            <a:srgbClr val="5B35D5"/>
          </a:solidFill>
          <a:ln cap="flat" cmpd="sng" w="12700">
            <a:solidFill>
              <a:srgbClr val="5B35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9"/>
          <p:cNvSpPr/>
          <p:nvPr/>
        </p:nvSpPr>
        <p:spPr>
          <a:xfrm>
            <a:off x="3154680" y="1078992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9"/>
          <p:cNvSpPr/>
          <p:nvPr/>
        </p:nvSpPr>
        <p:spPr>
          <a:xfrm>
            <a:off x="2560320" y="1938528"/>
            <a:ext cx="1920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35D5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5B35D5"/>
                </a:solidFill>
                <a:latin typeface="Arial"/>
                <a:ea typeface="Arial"/>
                <a:cs typeface="Arial"/>
                <a:sym typeface="Arial"/>
              </a:rPr>
              <a:t>PASO 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9"/>
          <p:cNvSpPr/>
          <p:nvPr/>
        </p:nvSpPr>
        <p:spPr>
          <a:xfrm>
            <a:off x="2560320" y="219456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A2E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0F0A2E"/>
                </a:solidFill>
                <a:latin typeface="Arial"/>
                <a:ea typeface="Arial"/>
                <a:cs typeface="Arial"/>
                <a:sym typeface="Arial"/>
              </a:rPr>
              <a:t>Perfil IA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9"/>
          <p:cNvSpPr/>
          <p:nvPr/>
        </p:nvSpPr>
        <p:spPr>
          <a:xfrm>
            <a:off x="2670048" y="2743200"/>
            <a:ext cx="16916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Sofi IA genera descripción y requisitos automáticamente.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9"/>
          <p:cNvSpPr/>
          <p:nvPr/>
        </p:nvSpPr>
        <p:spPr>
          <a:xfrm>
            <a:off x="4337365" y="2011650"/>
            <a:ext cx="560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35D5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5B35D5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9"/>
          <p:cNvSpPr/>
          <p:nvPr/>
        </p:nvSpPr>
        <p:spPr>
          <a:xfrm>
            <a:off x="4754880" y="914400"/>
            <a:ext cx="1920240" cy="32004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9525">
            <a:solidFill>
              <a:srgbClr val="C7C4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9"/>
          <p:cNvSpPr/>
          <p:nvPr/>
        </p:nvSpPr>
        <p:spPr>
          <a:xfrm>
            <a:off x="5349240" y="1078992"/>
            <a:ext cx="731520" cy="731520"/>
          </a:xfrm>
          <a:prstGeom prst="ellipse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9"/>
          <p:cNvSpPr/>
          <p:nvPr/>
        </p:nvSpPr>
        <p:spPr>
          <a:xfrm>
            <a:off x="5349240" y="1078992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9"/>
          <p:cNvSpPr/>
          <p:nvPr/>
        </p:nvSpPr>
        <p:spPr>
          <a:xfrm>
            <a:off x="4754880" y="193852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0891B2"/>
                </a:solidFill>
                <a:latin typeface="Arial"/>
                <a:ea typeface="Arial"/>
                <a:cs typeface="Arial"/>
                <a:sym typeface="Arial"/>
              </a:rPr>
              <a:t>PASO 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4754880" y="219456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A2E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0F0A2E"/>
                </a:solidFill>
                <a:latin typeface="Arial"/>
                <a:ea typeface="Arial"/>
                <a:cs typeface="Arial"/>
                <a:sym typeface="Arial"/>
              </a:rPr>
              <a:t>Portales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4864608" y="2743200"/>
            <a:ext cx="16916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Elige portales por país. IA recomienda los mejores.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9"/>
          <p:cNvSpPr/>
          <p:nvPr/>
        </p:nvSpPr>
        <p:spPr>
          <a:xfrm>
            <a:off x="6612202" y="2011650"/>
            <a:ext cx="384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35D5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5B35D5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9"/>
          <p:cNvSpPr/>
          <p:nvPr/>
        </p:nvSpPr>
        <p:spPr>
          <a:xfrm>
            <a:off x="6949440" y="914400"/>
            <a:ext cx="1920240" cy="320040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9525">
            <a:solidFill>
              <a:srgbClr val="C7C4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9"/>
          <p:cNvSpPr/>
          <p:nvPr/>
        </p:nvSpPr>
        <p:spPr>
          <a:xfrm>
            <a:off x="7543800" y="1078992"/>
            <a:ext cx="731520" cy="731520"/>
          </a:xfrm>
          <a:prstGeom prst="ellipse">
            <a:avLst/>
          </a:prstGeom>
          <a:solidFill>
            <a:srgbClr val="047857"/>
          </a:solidFill>
          <a:ln cap="flat" cmpd="sng" w="12700">
            <a:solidFill>
              <a:srgbClr val="0478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9"/>
          <p:cNvSpPr/>
          <p:nvPr/>
        </p:nvSpPr>
        <p:spPr>
          <a:xfrm>
            <a:off x="7543800" y="1078992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9"/>
          <p:cNvSpPr/>
          <p:nvPr/>
        </p:nvSpPr>
        <p:spPr>
          <a:xfrm>
            <a:off x="6949440" y="193852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047857"/>
                </a:solidFill>
                <a:latin typeface="Arial"/>
                <a:ea typeface="Arial"/>
                <a:cs typeface="Arial"/>
                <a:sym typeface="Arial"/>
              </a:rPr>
              <a:t>PASO 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9"/>
          <p:cNvSpPr/>
          <p:nvPr/>
        </p:nvSpPr>
        <p:spPr>
          <a:xfrm>
            <a:off x="6949440" y="219456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0A2E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0F0A2E"/>
                </a:solidFill>
                <a:latin typeface="Arial"/>
                <a:ea typeface="Arial"/>
                <a:cs typeface="Arial"/>
                <a:sym typeface="Arial"/>
              </a:rPr>
              <a:t>Publicar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9"/>
          <p:cNvSpPr/>
          <p:nvPr/>
        </p:nvSpPr>
        <p:spPr>
          <a:xfrm>
            <a:off x="7059168" y="2743200"/>
            <a:ext cx="16916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Revisión final y publicación simultánea multicanal.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9"/>
          <p:cNvSpPr/>
          <p:nvPr/>
        </p:nvSpPr>
        <p:spPr>
          <a:xfrm>
            <a:off x="365760" y="4279392"/>
            <a:ext cx="8412480" cy="594360"/>
          </a:xfrm>
          <a:prstGeom prst="roundRect">
            <a:avLst>
              <a:gd fmla="val 15385" name="adj"/>
            </a:avLst>
          </a:prstGeom>
          <a:solidFill>
            <a:srgbClr val="5B35D5">
              <a:alpha val="14901"/>
            </a:srgbClr>
          </a:solidFill>
          <a:ln cap="flat" cmpd="sng" w="12700">
            <a:solidFill>
              <a:srgbClr val="5B35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9"/>
          <p:cNvSpPr/>
          <p:nvPr/>
        </p:nvSpPr>
        <p:spPr>
          <a:xfrm>
            <a:off x="502920" y="427939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A2E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F0A2E"/>
                </a:solidFill>
                <a:latin typeface="Arial"/>
                <a:ea typeface="Arial"/>
                <a:cs typeface="Arial"/>
                <a:sym typeface="Arial"/>
              </a:rPr>
              <a:t>✨  Sofi IA actúa en Paso 2 y 3 — genera contenido y recomienda portales por país, manteniendo siempre el control humano en la decisión final.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9"/>
          <p:cNvSpPr/>
          <p:nvPr/>
        </p:nvSpPr>
        <p:spPr>
          <a:xfrm>
            <a:off x="64688" y="73650"/>
            <a:ext cx="1492800" cy="559800"/>
          </a:xfrm>
          <a:prstGeom prst="chevron">
            <a:avLst>
              <a:gd fmla="val 50000" name="adj"/>
            </a:avLst>
          </a:prstGeom>
          <a:solidFill>
            <a:srgbClr val="7C5CFC"/>
          </a:solidFill>
          <a:ln cap="flat" cmpd="sng" w="9525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DEMO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06" name="Google Shape;406;p9"/>
          <p:cNvSpPr/>
          <p:nvPr/>
        </p:nvSpPr>
        <p:spPr>
          <a:xfrm>
            <a:off x="1328100" y="73650"/>
            <a:ext cx="1766700" cy="559800"/>
          </a:xfrm>
          <a:prstGeom prst="chevron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CONCLUSIÓN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2FA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f33294325c_0_2"/>
          <p:cNvSpPr/>
          <p:nvPr/>
        </p:nvSpPr>
        <p:spPr>
          <a:xfrm>
            <a:off x="2668200" y="2930250"/>
            <a:ext cx="3807600" cy="854100"/>
          </a:xfrm>
          <a:prstGeom prst="roundRect">
            <a:avLst>
              <a:gd fmla="val 15385" name="adj"/>
            </a:avLst>
          </a:prstGeom>
          <a:solidFill>
            <a:srgbClr val="5B35D5">
              <a:alpha val="14900"/>
            </a:srgbClr>
          </a:solidFill>
          <a:ln cap="flat" cmpd="sng" w="12700">
            <a:solidFill>
              <a:srgbClr val="5B35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Demo técnica del sistema</a:t>
            </a:r>
            <a:endParaRPr sz="2200"/>
          </a:p>
        </p:txBody>
      </p:sp>
      <p:sp>
        <p:nvSpPr>
          <p:cNvPr id="413" name="Google Shape;413;g3f33294325c_0_2"/>
          <p:cNvSpPr/>
          <p:nvPr/>
        </p:nvSpPr>
        <p:spPr>
          <a:xfrm>
            <a:off x="64688" y="73650"/>
            <a:ext cx="1492800" cy="559800"/>
          </a:xfrm>
          <a:prstGeom prst="chevron">
            <a:avLst>
              <a:gd fmla="val 50000" name="adj"/>
            </a:avLst>
          </a:prstGeom>
          <a:solidFill>
            <a:srgbClr val="7C5CFC"/>
          </a:solidFill>
          <a:ln cap="flat" cmpd="sng" w="9525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DEMO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414" name="Google Shape;414;g3f33294325c_0_2"/>
          <p:cNvSpPr/>
          <p:nvPr/>
        </p:nvSpPr>
        <p:spPr>
          <a:xfrm>
            <a:off x="1328100" y="73650"/>
            <a:ext cx="1766700" cy="559800"/>
          </a:xfrm>
          <a:prstGeom prst="chevron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CONCLUSIÓN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415" name="Google Shape;415;g3f33294325c_0_2"/>
          <p:cNvPicPr preferRelativeResize="0"/>
          <p:nvPr/>
        </p:nvPicPr>
        <p:blipFill rotWithShape="1">
          <a:blip r:embed="rId3">
            <a:alphaModFix/>
          </a:blip>
          <a:srcRect b="0" l="0" r="0" t="1681"/>
          <a:stretch/>
        </p:blipFill>
        <p:spPr>
          <a:xfrm>
            <a:off x="1652325" y="816687"/>
            <a:ext cx="5839349" cy="1804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2FA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3"/>
          <p:cNvSpPr/>
          <p:nvPr/>
        </p:nvSpPr>
        <p:spPr>
          <a:xfrm>
            <a:off x="457260" y="1164458"/>
            <a:ext cx="3931800" cy="1691700"/>
          </a:xfrm>
          <a:prstGeom prst="roundRect">
            <a:avLst>
              <a:gd fmla="val 6486" name="adj"/>
            </a:avLst>
          </a:prstGeom>
          <a:solidFill>
            <a:srgbClr val="FFFFFF"/>
          </a:solidFill>
          <a:ln cap="flat" cmpd="sng" w="9525">
            <a:solidFill>
              <a:srgbClr val="C7C4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3"/>
          <p:cNvSpPr/>
          <p:nvPr/>
        </p:nvSpPr>
        <p:spPr>
          <a:xfrm>
            <a:off x="594420" y="1255868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🏗️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3"/>
          <p:cNvSpPr/>
          <p:nvPr/>
        </p:nvSpPr>
        <p:spPr>
          <a:xfrm>
            <a:off x="1234500" y="1301618"/>
            <a:ext cx="301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A2E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F0A2E"/>
                </a:solidFill>
                <a:latin typeface="Arial"/>
                <a:ea typeface="Arial"/>
                <a:cs typeface="Arial"/>
                <a:sym typeface="Arial"/>
              </a:rPr>
              <a:t>Arquitectura escalable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3"/>
          <p:cNvSpPr/>
          <p:nvPr/>
        </p:nvSpPr>
        <p:spPr>
          <a:xfrm>
            <a:off x="594420" y="1850258"/>
            <a:ext cx="361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SOFI demuestra la viabilidad de construir un SaaS moderno con React, FastAPI, Firebase y IA orquestado con Docker.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3"/>
          <p:cNvSpPr/>
          <p:nvPr/>
        </p:nvSpPr>
        <p:spPr>
          <a:xfrm>
            <a:off x="457260" y="3017048"/>
            <a:ext cx="3931800" cy="1691700"/>
          </a:xfrm>
          <a:prstGeom prst="roundRect">
            <a:avLst>
              <a:gd fmla="val 6486" name="adj"/>
            </a:avLst>
          </a:prstGeom>
          <a:solidFill>
            <a:srgbClr val="FFFFFF"/>
          </a:solidFill>
          <a:ln cap="flat" cmpd="sng" w="9525">
            <a:solidFill>
              <a:srgbClr val="C7C4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3"/>
          <p:cNvSpPr/>
          <p:nvPr/>
        </p:nvSpPr>
        <p:spPr>
          <a:xfrm>
            <a:off x="594420" y="3154207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3"/>
          <p:cNvSpPr/>
          <p:nvPr/>
        </p:nvSpPr>
        <p:spPr>
          <a:xfrm>
            <a:off x="1234500" y="3154207"/>
            <a:ext cx="301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A2E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F0A2E"/>
                </a:solidFill>
                <a:latin typeface="Arial"/>
                <a:ea typeface="Arial"/>
                <a:cs typeface="Arial"/>
                <a:sym typeface="Arial"/>
              </a:rPr>
              <a:t>Problema real resuelto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3"/>
          <p:cNvSpPr/>
          <p:nvPr/>
        </p:nvSpPr>
        <p:spPr>
          <a:xfrm>
            <a:off x="594420" y="3702848"/>
            <a:ext cx="361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El flujo de 4 pasos reduce el tiempo de publicación en ~65%, eliminando el trabajo manual repetitivo.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3"/>
          <p:cNvSpPr/>
          <p:nvPr/>
        </p:nvSpPr>
        <p:spPr>
          <a:xfrm>
            <a:off x="4754940" y="1164458"/>
            <a:ext cx="3931800" cy="1691700"/>
          </a:xfrm>
          <a:prstGeom prst="roundRect">
            <a:avLst>
              <a:gd fmla="val 6486" name="adj"/>
            </a:avLst>
          </a:prstGeom>
          <a:solidFill>
            <a:srgbClr val="FFFFFF"/>
          </a:solidFill>
          <a:ln cap="flat" cmpd="sng" w="9525">
            <a:solidFill>
              <a:srgbClr val="C7C4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3"/>
          <p:cNvSpPr/>
          <p:nvPr/>
        </p:nvSpPr>
        <p:spPr>
          <a:xfrm>
            <a:off x="4892100" y="1301618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🌍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3"/>
          <p:cNvSpPr/>
          <p:nvPr/>
        </p:nvSpPr>
        <p:spPr>
          <a:xfrm>
            <a:off x="5532180" y="1301618"/>
            <a:ext cx="301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A2E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F0A2E"/>
                </a:solidFill>
                <a:latin typeface="Arial"/>
                <a:ea typeface="Arial"/>
                <a:cs typeface="Arial"/>
                <a:sym typeface="Arial"/>
              </a:rPr>
              <a:t>Alcance regional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3"/>
          <p:cNvSpPr/>
          <p:nvPr/>
        </p:nvSpPr>
        <p:spPr>
          <a:xfrm>
            <a:off x="4892100" y="1850258"/>
            <a:ext cx="361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Soporte nativo para portales de América Latina y EE.UU., adaptado al contexto local de cada mercado.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3"/>
          <p:cNvSpPr/>
          <p:nvPr/>
        </p:nvSpPr>
        <p:spPr>
          <a:xfrm>
            <a:off x="4754940" y="3017048"/>
            <a:ext cx="3931800" cy="1691700"/>
          </a:xfrm>
          <a:prstGeom prst="roundRect">
            <a:avLst>
              <a:gd fmla="val 6486" name="adj"/>
            </a:avLst>
          </a:prstGeom>
          <a:solidFill>
            <a:srgbClr val="FFFFFF"/>
          </a:solidFill>
          <a:ln cap="flat" cmpd="sng" w="9525">
            <a:solidFill>
              <a:srgbClr val="C7C4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3"/>
          <p:cNvSpPr/>
          <p:nvPr/>
        </p:nvSpPr>
        <p:spPr>
          <a:xfrm>
            <a:off x="4892100" y="3154207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🤖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3"/>
          <p:cNvSpPr/>
          <p:nvPr/>
        </p:nvSpPr>
        <p:spPr>
          <a:xfrm>
            <a:off x="5532180" y="3154207"/>
            <a:ext cx="301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0A2E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F0A2E"/>
                </a:solidFill>
                <a:latin typeface="Arial"/>
                <a:ea typeface="Arial"/>
                <a:cs typeface="Arial"/>
                <a:sym typeface="Arial"/>
              </a:rPr>
              <a:t>IA responsable (HITL)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3"/>
          <p:cNvSpPr/>
          <p:nvPr/>
        </p:nvSpPr>
        <p:spPr>
          <a:xfrm>
            <a:off x="4892100" y="3702848"/>
            <a:ext cx="361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El principio Human in the Loop garantiza que la IA apoye sin reemplazar el criterio del reclutador.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3"/>
          <p:cNvSpPr/>
          <p:nvPr/>
        </p:nvSpPr>
        <p:spPr>
          <a:xfrm>
            <a:off x="68450" y="34550"/>
            <a:ext cx="2021700" cy="559800"/>
          </a:xfrm>
          <a:prstGeom prst="chevron">
            <a:avLst>
              <a:gd fmla="val 50000" name="adj"/>
            </a:avLst>
          </a:prstGeom>
          <a:solidFill>
            <a:srgbClr val="7C5CFC"/>
          </a:solidFill>
          <a:ln cap="flat" cmpd="sng" w="9525">
            <a:solidFill>
              <a:srgbClr val="7C5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CONCLUSIÓN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060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4"/>
          <p:cNvSpPr/>
          <p:nvPr/>
        </p:nvSpPr>
        <p:spPr>
          <a:xfrm>
            <a:off x="-914400" y="1828800"/>
            <a:ext cx="4572000" cy="4572000"/>
          </a:xfrm>
          <a:prstGeom prst="ellipse">
            <a:avLst/>
          </a:prstGeom>
          <a:solidFill>
            <a:srgbClr val="5B35D5">
              <a:alpha val="21960"/>
            </a:srgbClr>
          </a:solidFill>
          <a:ln cap="flat" cmpd="sng" w="12700">
            <a:solidFill>
              <a:srgbClr val="5B35D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4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1D4ED8">
              <a:alpha val="21960"/>
            </a:srgbClr>
          </a:solidFill>
          <a:ln cap="flat" cmpd="sng" w="12700">
            <a:solidFill>
              <a:srgbClr val="1D4ED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4"/>
          <p:cNvSpPr/>
          <p:nvPr/>
        </p:nvSpPr>
        <p:spPr>
          <a:xfrm>
            <a:off x="914350" y="1285875"/>
            <a:ext cx="73152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Arial"/>
              <a:buNone/>
            </a:pPr>
            <a:r>
              <a:rPr b="1" lang="en-US" sz="6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¡Gracias!</a:t>
            </a:r>
            <a:endParaRPr sz="6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4"/>
          <p:cNvSpPr/>
          <p:nvPr/>
        </p:nvSpPr>
        <p:spPr>
          <a:xfrm>
            <a:off x="914350" y="3423082"/>
            <a:ext cx="7315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A78BFA"/>
                </a:solidFill>
                <a:latin typeface="Arial"/>
                <a:ea typeface="Arial"/>
                <a:cs typeface="Arial"/>
                <a:sym typeface="Arial"/>
              </a:rPr>
              <a:t>SOFI — Capstone_007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4"/>
          <p:cNvSpPr/>
          <p:nvPr/>
        </p:nvSpPr>
        <p:spPr>
          <a:xfrm>
            <a:off x="3291840" y="4030675"/>
            <a:ext cx="2560200" cy="36600"/>
          </a:xfrm>
          <a:prstGeom prst="rect">
            <a:avLst/>
          </a:prstGeom>
          <a:solidFill>
            <a:srgbClr val="5B35D5"/>
          </a:solidFill>
          <a:ln cap="flat" cmpd="sng" w="12700">
            <a:solidFill>
              <a:srgbClr val="5B35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4"/>
          <p:cNvSpPr/>
          <p:nvPr/>
        </p:nvSpPr>
        <p:spPr>
          <a:xfrm>
            <a:off x="914400" y="4209055"/>
            <a:ext cx="7315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C4B5FD"/>
                </a:solidFill>
                <a:latin typeface="Arial"/>
                <a:ea typeface="Arial"/>
                <a:cs typeface="Arial"/>
                <a:sym typeface="Arial"/>
              </a:rPr>
              <a:t>Fernanda Bustos  ·  Nicolás Retamal  ·  Felipe Vaccaro  ·  Paskal Vera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4"/>
          <p:cNvSpPr/>
          <p:nvPr/>
        </p:nvSpPr>
        <p:spPr>
          <a:xfrm>
            <a:off x="914400" y="4647967"/>
            <a:ext cx="7315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818CF8"/>
                </a:solidFill>
                <a:latin typeface="Arial"/>
                <a:ea typeface="Arial"/>
                <a:cs typeface="Arial"/>
                <a:sym typeface="Arial"/>
              </a:rPr>
              <a:t>Docente: Carlos González  ·  DuocUC 2026  ·  Alloxentric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4"/>
          <p:cNvSpPr/>
          <p:nvPr/>
        </p:nvSpPr>
        <p:spPr>
          <a:xfrm>
            <a:off x="914350" y="2383270"/>
            <a:ext cx="731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Arial"/>
              <a:buNone/>
            </a:pPr>
            <a:r>
              <a:rPr b="1" i="1" lang="en-US" sz="1400">
                <a:solidFill>
                  <a:schemeClr val="lt1"/>
                </a:solidFill>
              </a:rPr>
              <a:t>"Conectando procesos con Inteligencia</a:t>
            </a:r>
            <a:r>
              <a:rPr b="1" i="1" lang="en-US">
                <a:solidFill>
                  <a:schemeClr val="lt1"/>
                </a:solidFill>
              </a:rPr>
              <a:t>,</a:t>
            </a:r>
            <a:r>
              <a:rPr b="1" i="1" lang="en-US" sz="1400">
                <a:solidFill>
                  <a:schemeClr val="lt1"/>
                </a:solidFill>
              </a:rPr>
              <a:t> elevando experiencias."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2026-06-17T09:28:27Z</dcterms:created>
  <dc:creator>PptxGenJS</dc:creator>
</cp:coreProperties>
</file>